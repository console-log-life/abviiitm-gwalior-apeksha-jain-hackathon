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in this deck is produced by a script in the repository or labelled as simulated or synthetic. One sentence: we turn news and social text into explainable risk signals and stress the portfolio when something material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it as decision support for risk managers, credit analysts and portfolio managers. We make no ROI or time-saved claim; the only speed number is the measured per-document latency.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are only claimed after our probe script passed. Adapters never crash the app. The stress engine is a subscriber on the event bus. Everything runs offline after a one-time model download.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formula with the example: event severity and strong negative sentiment dominate, the signal is market-wide, and two sources corroborate it. Weights are published at /methodology.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caveat plainly: the evaluation labels were drafted by an AI assistant and are pending human review, and the same assistant wrote the rules, so those numbers are a smoke test. Replaying 911 real captured documents, our false-trigger fixes cut simulated stress runs from 84 to 50. Read the disclaimer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Business value without invented numbers: earlier attention on held names, triage by materiality with the reason shown, and an immediate, audited portfolio view. Linked exposure is an attention measure, not a contagion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takeaway. If asked about weaknesses, the limitations column is the honest list; docs/judge_qa.md has the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384048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Risk Signal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From breaking news and social posts to explainable risk signals and a portfolio stress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803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S&amp;P Global × CRISIL · Code to Connect Hackathon 2026 · Module B: Strategic Portfolio Stress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4340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0E8A84"/>
                </a:solidFill>
                <a:latin typeface="Calibri"/>
              </a:rPr>
              <a:t>1,325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real captured headlines and posts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434340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0E8A84"/>
                </a:solidFill>
                <a:latin typeface="Calibri"/>
              </a:rPr>
              <a:t>1–10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79" y="502920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explainable impact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8" y="434340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0E8A84"/>
                </a:solidFill>
                <a:latin typeface="Calibri"/>
              </a:rPr>
              <a:t>seconds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8" y="502920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from headline to portfolio 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55B66"/>
                </a:solidFill>
                <a:latin typeface="Calibri"/>
              </a:rPr>
              <a:t>Individual submission · decision-support prototype, not investment advice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Problem and approach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E8A84"/>
                </a:solidFill>
                <a:latin typeface="Calibri"/>
              </a:rPr>
              <a:t>Risk shows up in text before it shows up in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1206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1900" b="0" i="0">
                <a:solidFill>
                  <a:srgbClr val="1A1A1A"/>
                </a:solidFill>
                <a:latin typeface="Calibri"/>
              </a:rPr>
              <a:t>Downgrades, probes, sanctions and rate moves break as headlines and posts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1900" b="0" i="0">
                <a:solidFill>
                  <a:srgbClr val="1A1A1A"/>
                </a:solidFill>
                <a:latin typeface="Calibri"/>
              </a:rPr>
              <a:t>Credit analysts and risk teams triage them by hand: slow, noisy, duplicated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1900" b="0" i="0">
                <a:solidFill>
                  <a:srgbClr val="1A1A1A"/>
                </a:solidFill>
                <a:latin typeface="Calibri"/>
              </a:rPr>
              <a:t>Nothing links a headline to the book's exposure until someone runs numbers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1900" b="1" i="0">
                <a:solidFill>
                  <a:srgbClr val="1A1A1A"/>
                </a:solidFill>
                <a:latin typeface="Calibri"/>
              </a:rPr>
              <a:t>Approach: </a:t>
            </a:r>
            <a:r>
              <a:rPr sz="1900" b="0" i="0">
                <a:solidFill>
                  <a:srgbClr val="1A1A1A"/>
                </a:solidFill>
                <a:latin typeface="Calibri"/>
              </a:rPr>
              <a:t>an NLP risk engine scores every item (sentiment, event, impact) and an event-driven stress engine reprices the 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555B66"/>
                </a:solidFill>
                <a:latin typeface="Calibri"/>
              </a:rPr>
              <a:t>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1945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F2A44"/>
                </a:solidFill>
                <a:latin typeface="Calibri"/>
              </a:rPr>
              <a:t>Headline breaks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81544" y="2651760"/>
            <a:ext cx="274320" cy="0"/>
          </a:xfrm>
          <a:prstGeom prst="line">
            <a:avLst/>
          </a:prstGeom>
          <a:ln w="3175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8083296" y="21945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F2A44"/>
                </a:solidFill>
                <a:latin typeface="Calibri"/>
              </a:rPr>
              <a:t>Analyst reads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38360" y="2651760"/>
            <a:ext cx="274320" cy="0"/>
          </a:xfrm>
          <a:prstGeom prst="line">
            <a:avLst/>
          </a:prstGeom>
          <a:ln w="3175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0040112" y="21945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F2A44"/>
                </a:solidFill>
                <a:latin typeface="Calibri"/>
              </a:rPr>
              <a:t>Manual stress run, later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7490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8A84"/>
                </a:solidFill>
                <a:latin typeface="Calibri"/>
              </a:rPr>
              <a:t>With the engine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2519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0E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Headline ingested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81544" y="4709160"/>
            <a:ext cx="274320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083296" y="42519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0E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Scored + explained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738360" y="4709160"/>
            <a:ext cx="274320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40112" y="42519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0E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Stress test triggered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4406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Measured pipeline latency: median 204.7 ms per document (n = 200, CPU laptop)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19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System design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E8A84"/>
                </a:solidFill>
                <a:latin typeface="Calibri"/>
              </a:rPr>
              <a:t>One NLP pipeline for live, replayed, scripted and API input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615" y="1417320"/>
            <a:ext cx="9596464" cy="4343400"/>
          </a:xfrm>
          <a:prstGeom prst="rect">
            <a:avLst/>
          </a:prstGeom>
          <a:ln w="12700">
            <a:solidFill>
              <a:srgbClr val="C9D3D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1297615" y="5806440"/>
            <a:ext cx="95964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Sources → ingestion → NLP → RiskSignal store and API → stress engine and dashboard · every record labelled LIVE / CACHED_REAL / SYNTHETIC (docs/architecture.png)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7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Implementation highlights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E8A84"/>
                </a:solidFill>
                <a:latin typeface="Calibri"/>
              </a:rPr>
              <a:t>Every score is explained, every weight is 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93776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E8A84"/>
              </a:buClr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Calibri"/>
              </a:rPr>
              <a:t>NLP: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entities (cashtags, aliases, spaCy, guarded fuzzy), FinBERT sentiment, 11-class event rules with evidence; optional fine-tuned models in a hybrid</a:t>
            </a:r>
          </a:p>
          <a:p>
            <a:pPr marL="274320" indent="-274320">
              <a:spcAft>
                <a:spcPts val="900"/>
              </a:spcAft>
              <a:buClr>
                <a:srgbClr val="0E8A84"/>
              </a:buClr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Calibri"/>
              </a:rPr>
              <a:t>Stress engine: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news-only systemic and issuer triggers with cooldown; pricers for bonds, loans, IRS, CDS, FX, equity; what-if sliders</a:t>
            </a:r>
          </a:p>
          <a:p>
            <a:pPr marL="274320" indent="-274320">
              <a:spcAft>
                <a:spcPts val="900"/>
              </a:spcAft>
              <a:buClr>
                <a:srgbClr val="0E8A84"/>
              </a:buClr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Calibri"/>
              </a:rPr>
              <a:t>Credit views: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watchlist, propagation over 16 curated links, one-click credit brief</a:t>
            </a:r>
          </a:p>
          <a:p>
            <a:pPr marL="274320" indent="-274320">
              <a:spcAft>
                <a:spcPts val="900"/>
              </a:spcAft>
              <a:buClr>
                <a:srgbClr val="0E8A84"/>
              </a:buClr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Calibri"/>
              </a:rPr>
              <a:t>Engineering: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one pipeline for every input, offline demo, time machine over real data, audit trail</a:t>
            </a:r>
          </a:p>
        </p:txBody>
      </p:sp>
      <p:pic>
        <p:nvPicPr>
          <p:cNvPr id="5" name="Picture 4" descr="explain_fa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371600"/>
            <a:ext cx="6035040" cy="1670413"/>
          </a:xfrm>
          <a:prstGeom prst="rect">
            <a:avLst/>
          </a:prstGeom>
          <a:ln w="12700">
            <a:solidFill>
              <a:srgbClr val="C9D3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23560" y="3106021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Dashboard explainability: factor contributions for a SYNTHETIC demo signal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0" y="3499213"/>
            <a:ext cx="603504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E8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3636373"/>
            <a:ext cx="5577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alibri"/>
              </a:rPr>
              <a:t>Impact = 1 + 9 × Q × (</a:t>
            </a:r>
            <a:r>
              <a:rPr sz="1800" b="1" i="0">
                <a:solidFill>
                  <a:srgbClr val="0E8A84"/>
                </a:solidFill>
                <a:latin typeface="Calibri"/>
              </a:rPr>
              <a:t>0.40·E + 0.25·M + 0.20·X + 0.15·R</a:t>
            </a:r>
            <a:r>
              <a:rPr sz="1800" b="1" i="0">
                <a:solidFill>
                  <a:srgbClr val="1F2A44"/>
                </a:solidFill>
                <a:latin typeface="Calibri"/>
              </a:rPr>
              <a:t>)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E event severity · M sentiment magnitude · X exposure · R credibility + corroboration · Q confidence</a:t>
            </a:r>
          </a:p>
          <a:p>
            <a:pPr algn="l"/>
            <a:r>
              <a:rPr sz="1500" b="0" i="0">
                <a:solidFill>
                  <a:srgbClr val="555B66"/>
                </a:solidFill>
                <a:latin typeface="Calibri"/>
              </a:rPr>
              <a:t>Expert-set priors, not calibrated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10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Key results and metrics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E8A84"/>
                </a:solidFill>
                <a:latin typeface="Calibri"/>
              </a:rPr>
              <a:t>Accuracy: preliminary (labels pending human review)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103120" cy="13258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90472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F2A44"/>
                </a:solidFill>
                <a:latin typeface="Calibri"/>
              </a:rPr>
              <a:t>0.653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02082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Sentiment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33172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accuracy · FinBERT · n = 147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0632" y="1417320"/>
            <a:ext cx="2103120" cy="13258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35224" y="1490472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F2A44"/>
                </a:solidFill>
                <a:latin typeface="Calibri"/>
              </a:rPr>
              <a:t>0.81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5224" y="202082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5224" y="233172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accuracy · rules · n = 147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92624" y="1417320"/>
            <a:ext cx="2103120" cy="13258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57216" y="1490472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F2A44"/>
                </a:solidFill>
                <a:latin typeface="Calibri"/>
              </a:rPr>
              <a:t>0.898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7216" y="202082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Entities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7216" y="233172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accuracy · n = 147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14616" y="1417320"/>
            <a:ext cx="2103120" cy="13258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9208" y="1490472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F2A44"/>
                </a:solidFill>
                <a:latin typeface="Calibri"/>
              </a:rPr>
              <a:t>204.7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9208" y="202082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Median latency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9208" y="233172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p95 1085.2 ms · n = 200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36608" y="1417320"/>
            <a:ext cx="2103120" cy="13258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1490472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F2A44"/>
                </a:solidFill>
                <a:latin typeface="Calibri"/>
              </a:rPr>
              <a:t>84 → 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02082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Stress runs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33172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replay after fixes · n = 911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7889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Preliminary (labels pending human review): labels drafted by an AI assistant, which also wrote the event rules. Treat as a smoke test, not a benchmark.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24612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F2A44"/>
                </a:solidFill>
                <a:latin typeface="Calibri"/>
              </a:rPr>
              <a:t>Scenario demo (simulated)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3794760"/>
            <a:ext cx="237744" cy="237744"/>
          </a:xfrm>
          <a:prstGeom prst="ellipse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3703320"/>
            <a:ext cx="40233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CA30C"/>
                </a:solidFill>
                <a:latin typeface="Calibri"/>
              </a:rPr>
              <a:t>0.41% GREEN 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Tata Motors downgrade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4251960"/>
            <a:ext cx="237744" cy="237744"/>
          </a:xfrm>
          <a:prstGeom prst="ellipse">
            <a:avLst/>
          </a:prstGeom>
          <a:solidFill>
            <a:srgbClr val="C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4160520"/>
            <a:ext cx="40233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C98A00"/>
                </a:solidFill>
                <a:latin typeface="Calibri"/>
              </a:rPr>
              <a:t>1.32% AMBER 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Invasion (1 source)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4709160"/>
            <a:ext cx="237744" cy="237744"/>
          </a:xfrm>
          <a:prstGeom prst="ellipse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617720"/>
            <a:ext cx="40233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D03B3B"/>
                </a:solidFill>
                <a:latin typeface="Calibri"/>
              </a:rPr>
              <a:t>2.45% RED 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Corroborated (2 sources)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212080"/>
            <a:ext cx="4480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2A44"/>
                </a:solidFill>
                <a:latin typeface="Calibri"/>
              </a:rPr>
              <a:t>REAL history: </a:t>
            </a:r>
            <a:r>
              <a:rPr sz="1600" b="0" i="0">
                <a:solidFill>
                  <a:srgbClr val="1A1A1A"/>
                </a:solidFill>
                <a:latin typeface="Calibri"/>
              </a:rPr>
              <a:t>1,325 captured documents → 1,325 signals → 54 simulated stress runs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89788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03B3B"/>
                </a:solidFill>
                <a:latin typeface="Calibri"/>
              </a:rPr>
              <a:t>Simplified, illustrative hackathon stress model. Not a production or regulatory risk model.</a:t>
            </a:r>
          </a:p>
        </p:txBody>
      </p:sp>
      <p:pic>
        <p:nvPicPr>
          <p:cNvPr id="34" name="Picture 33" descr="stress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3246120"/>
            <a:ext cx="6537960" cy="2451735"/>
          </a:xfrm>
          <a:prstGeom prst="rect">
            <a:avLst/>
          </a:prstGeom>
          <a:ln w="12700">
            <a:solidFill>
              <a:srgbClr val="C9D3DB"/>
            </a:solidFill>
          </a:ln>
        </p:spPr>
      </p:pic>
      <p:sp>
        <p:nvSpPr>
          <p:cNvPr id="35" name="TextBox 34"/>
          <p:cNvSpPr txBox="1"/>
          <p:nvPr/>
        </p:nvSpPr>
        <p:spPr>
          <a:xfrm>
            <a:off x="5120640" y="5725287"/>
            <a:ext cx="6537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Before → after, corroborated geopolitical shock · Illustrative model, synthetic portfolio</a:t>
            </a:r>
          </a:p>
        </p:txBody>
      </p:sp>
      <p:sp>
        <p:nvSpPr>
          <p:cNvPr id="36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Demo losses: simulated, illustrative model, synthetic portfolio · not investment advice</a:t>
            </a:r>
          </a:p>
        </p:txBody>
      </p:sp>
      <p:sp>
        <p:nvSpPr>
          <p:cNvPr id="37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Domain impact and business value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E8A84"/>
                </a:solidFill>
                <a:latin typeface="Calibri"/>
              </a:rPr>
              <a:t>Decision support for credit and portfolio risk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3611880" cy="11887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F2A44"/>
                </a:solidFill>
                <a:latin typeface="Calibri"/>
              </a:rPr>
              <a:t>Credit analysts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see which held names need attention and the rule that fired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417320"/>
            <a:ext cx="3611880" cy="11887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53128" y="1508760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F2A44"/>
                </a:solidFill>
                <a:latin typeface="Calibri"/>
              </a:rPr>
              <a:t>Risk managers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3128" y="192024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get an audited, simulated portfolio view when news breaks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1417320"/>
            <a:ext cx="3611880" cy="11887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4736" y="1508760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F2A44"/>
                </a:solidFill>
                <a:latin typeface="Calibri"/>
              </a:rPr>
              <a:t>Portfolio managers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74736" y="192024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see linked exposure and test their own shocks instantly</a:t>
            </a:r>
          </a:p>
        </p:txBody>
      </p:sp>
      <p:pic>
        <p:nvPicPr>
          <p:cNvPr id="13" name="Picture 12" descr="watch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834640"/>
            <a:ext cx="3840480" cy="2057400"/>
          </a:xfrm>
          <a:prstGeom prst="rect">
            <a:avLst/>
          </a:prstGeom>
          <a:ln w="12700">
            <a:solidFill>
              <a:srgbClr val="C9D3DB"/>
            </a:solidFill>
          </a:ln>
        </p:spPr>
      </p:pic>
      <p:pic>
        <p:nvPicPr>
          <p:cNvPr id="14" name="Picture 13" descr="credit_bri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834640"/>
            <a:ext cx="3923756" cy="2057400"/>
          </a:xfrm>
          <a:prstGeom prst="rect">
            <a:avLst/>
          </a:prstGeom>
          <a:ln w="12700">
            <a:solidFill>
              <a:srgbClr val="C9D3DB"/>
            </a:solidFill>
          </a:ln>
        </p:spPr>
      </p:pic>
      <p:pic>
        <p:nvPicPr>
          <p:cNvPr id="15" name="Picture 14" descr="propagation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7196" y="2834640"/>
            <a:ext cx="3055859" cy="2218327"/>
          </a:xfrm>
          <a:prstGeom prst="rect">
            <a:avLst/>
          </a:prstGeom>
          <a:ln w="12700">
            <a:solidFill>
              <a:srgbClr val="C9D3DB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548640" y="4928616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Early-warning watchlist on real news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928616"/>
            <a:ext cx="39237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One-click credit brief (template, no LLM; PDF)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87196" y="5089543"/>
            <a:ext cx="30558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Propagation over curated links</a:t>
            </a:r>
          </a:p>
        </p:txBody>
      </p:sp>
      <p:sp>
        <p:nvSpPr>
          <p:cNvPr id="19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20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Limitations and future 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3566160" cy="36118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F2A44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30632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700" b="0" i="0">
                <a:solidFill>
                  <a:srgbClr val="1A1A1A"/>
                </a:solidFill>
                <a:latin typeface="Calibri"/>
              </a:rPr>
              <a:t>Impact weights are uncalibrated priors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700" b="0" i="0">
                <a:solidFill>
                  <a:srgbClr val="1A1A1A"/>
                </a:solidFill>
                <a:latin typeface="Calibri"/>
              </a:rPr>
              <a:t>Keyword rules still misfire on real data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700" b="0" i="0">
                <a:solidFill>
                  <a:srgbClr val="1A1A1A"/>
                </a:solidFill>
                <a:latin typeface="Calibri"/>
              </a:rPr>
              <a:t>Headline-only news text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700" b="0" i="0">
                <a:solidFill>
                  <a:srgbClr val="1A1A1A"/>
                </a:solidFill>
                <a:latin typeface="Calibri"/>
              </a:rPr>
              <a:t>Small AI-labelled evaluation set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700" b="0" i="0">
                <a:solidFill>
                  <a:srgbClr val="1A1A1A"/>
                </a:solidFill>
                <a:latin typeface="Calibri"/>
              </a:rPr>
              <a:t>Illustrative stress model, synthetic portfolio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566160" cy="36118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44568" y="13716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E8A84"/>
                </a:solidFill>
                <a:latin typeface="Calibri"/>
              </a:rPr>
              <a:t>Future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4568" y="1920240"/>
            <a:ext cx="30632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700" b="0" i="0">
                <a:solidFill>
                  <a:srgbClr val="1A1A1A"/>
                </a:solidFill>
                <a:latin typeface="Calibri"/>
              </a:rPr>
              <a:t>Calibrate impact on market moves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700" b="0" i="0">
                <a:solidFill>
                  <a:srgbClr val="1A1A1A"/>
                </a:solidFill>
                <a:latin typeface="Calibri"/>
              </a:rPr>
              <a:t>Licensed full-text news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700" b="0" i="0">
                <a:solidFill>
                  <a:srgbClr val="1A1A1A"/>
                </a:solidFill>
                <a:latin typeface="Calibri"/>
              </a:rPr>
              <a:t>Fine-tuned models on public labels (notebook ready)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700" b="0" i="0">
                <a:solidFill>
                  <a:srgbClr val="1A1A1A"/>
                </a:solidFill>
                <a:latin typeface="Calibri"/>
              </a:rPr>
              <a:t>Kafka streaming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700" b="0" i="0">
                <a:solidFill>
                  <a:srgbClr val="1A1A1A"/>
                </a:solidFill>
                <a:latin typeface="Calibri"/>
              </a:rPr>
              <a:t>Backtesting and full revaluation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91856" y="1188720"/>
            <a:ext cx="3566160" cy="36118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66176" y="13716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E8A84"/>
                </a:solidFill>
                <a:latin typeface="Calibri"/>
              </a:rPr>
              <a:t>What already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66176" y="1920240"/>
            <a:ext cx="30632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700" b="0" i="0">
                <a:solidFill>
                  <a:srgbClr val="1A1A1A"/>
                </a:solidFill>
                <a:latin typeface="Calibri"/>
              </a:rPr>
              <a:t>Provenance on every record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700" b="0" i="0">
                <a:solidFill>
                  <a:srgbClr val="1A1A1A"/>
                </a:solidFill>
                <a:latin typeface="Calibri"/>
              </a:rPr>
              <a:t>One pipeline for every input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700" b="0" i="0">
                <a:solidFill>
                  <a:srgbClr val="1A1A1A"/>
                </a:solidFill>
                <a:latin typeface="Calibri"/>
              </a:rPr>
              <a:t>Real-data time machine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700" b="0" i="0">
                <a:solidFill>
                  <a:srgbClr val="1A1A1A"/>
                </a:solidFill>
                <a:latin typeface="Calibri"/>
              </a:rPr>
              <a:t>Trigger audit trail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700" b="0" i="0">
                <a:solidFill>
                  <a:srgbClr val="1A1A1A"/>
                </a:solidFill>
                <a:latin typeface="Calibri"/>
              </a:rPr>
              <a:t>Offline demo on a laptop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29200"/>
            <a:ext cx="11094415" cy="105156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36289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An honest, explainable bridge from text to portfolio risk that runs offline on a laptop.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15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