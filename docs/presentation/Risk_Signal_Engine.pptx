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you will see is either measured by a script in the repository or clearly labelled as simulated or synthetic. The problem: risk-relevant events surface in text first, and nothing connects them to the portfolio until someone reads and calculates. Our answer: an NLP risk engine plus an event-driven stress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decision support, not trading signals. Users: risk managers, credit analysts, portfolio managers. We make no ROI or time-saved claim; the only speed number is the measured per-document latency of the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are only claimed after our probe script passed on this machine. Adapters never crash the app: timeouts, bounded retries and backoff, with health shown in the dashboard. The stress engine is just a subscriber on the event bus. The whole demo runs offline after a one-time model download.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formula with the example on the right: event severity and strong negative sentiment dominate, the signal is market-wide, and two independent sources corroborate it. The weights are expert priors, published at /methodology; calibration against market reactions is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disclaimer aloud. In the demo the Tata Motors downgrade triggers an issuer-only stress; our CDS hedge offsets much of it. The invasion headline triggers a moderate systemic stress; a second independent source escalates it to severe, above our 2% risk appetite. The propagation graph shows what else in the book is linked to the issuer: the links are curated by hand and documented.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caveat plainly: the evaluation labels were drafted by an AI assistant and are pending human review, and the same assistant wrote the rules, so those numbers are a smoke test. Replaying 911 real captured documents, our false-trigger fixes cut simulated stress runs from 84 to 50 and removed every run triggered by social posts alone. The watchlist is the credit analyst's view on real captured news; the credit brief is filled from templates, not generated by a language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takeaway and invite the judges to type their own headline into the dashboard. If asked about weaknesses, the limitations column is the honest list; docs/judge_qa.md has the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1F2A44"/>
                </a:solidFill>
                <a:latin typeface="Calibri"/>
              </a:rPr>
              <a:t>Risk Signal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0E8A84"/>
                </a:solidFill>
                <a:latin typeface="Calibri"/>
              </a:rPr>
              <a:t>From breaking news and social posts to a portfolio stress test, automatically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788920"/>
            <a:ext cx="5394960" cy="237744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30175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F2A44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566160"/>
            <a:ext cx="4754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Downgrades, sanctions, probes and rate moves hit unstructured text first. Risk teams read them by hand, and the portfolio impact is worked out later.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788920"/>
            <a:ext cx="5394960" cy="237744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30175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F2A44"/>
                </a:solidFill>
                <a:latin typeface="Calibri"/>
              </a:rPr>
              <a:t>Our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566160"/>
            <a:ext cx="4754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Calibri"/>
              </a:rPr>
              <a:t>An NLP engine scores every item for sentiment, event type and a transparent 1–10 impact, then triggers a stress test of a loans, bonds and derivatives book.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321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55B66"/>
                </a:solidFill>
                <a:latin typeface="Calibri"/>
              </a:rPr>
              <a:t>S&amp;P Global × CRISIL · Code to Connect Hackathon 2026 · Module B: Strategic Portfolio Stress Testing</a:t>
            </a:r>
          </a:p>
        </p:txBody>
      </p:sp>
      <p:sp>
        <p:nvSpPr>
          <p:cNvPr id="11" name="Footer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Calibri"/>
              </a:rPr>
              <a:t>Risk Signal Engine · Code to Connect 2026 · decision-support prototype, not investment advice</a:t>
            </a:r>
          </a:p>
        </p:txBody>
      </p:sp>
      <p:sp>
        <p:nvSpPr>
          <p:cNvPr id="12" name="SlideNo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55B66"/>
                </a:solidFill>
                <a:latin typeface="Calibri"/>
              </a:rP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F2A44"/>
                </a:solidFill>
                <a:latin typeface="Calibri"/>
              </a:rPr>
              <a:t>Why it matters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0E8A84"/>
                </a:solidFill>
                <a:latin typeface="Calibri"/>
              </a:rPr>
              <a:t>Risk shows up in text before it shows up in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1206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00"/>
              </a:spcAft>
              <a:buClr>
                <a:srgbClr val="0E8A84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Calibri"/>
              </a:rPr>
              <a:t>Credit analysts and risk teams monitor hundreds of issuers</a:t>
            </a:r>
          </a:p>
          <a:p>
            <a:pPr marL="274320" indent="-274320">
              <a:spcAft>
                <a:spcPts val="1000"/>
              </a:spcAft>
              <a:buClr>
                <a:srgbClr val="0E8A84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Calibri"/>
              </a:rPr>
              <a:t>Downgrades, probes and sanctions break as headlines and posts</a:t>
            </a:r>
          </a:p>
          <a:p>
            <a:pPr marL="274320" indent="-274320">
              <a:spcAft>
                <a:spcPts val="1000"/>
              </a:spcAft>
              <a:buClr>
                <a:srgbClr val="0E8A84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Calibri"/>
              </a:rPr>
              <a:t>Manual triage is slow, noisy and duplicated</a:t>
            </a:r>
          </a:p>
          <a:p>
            <a:pPr marL="274320" indent="-274320">
              <a:spcAft>
                <a:spcPts val="1000"/>
              </a:spcAft>
              <a:buClr>
                <a:srgbClr val="0E8A84"/>
              </a:buClr>
              <a:buFont typeface="Arial"/>
              <a:buChar char="•"/>
            </a:pPr>
            <a:r>
              <a:rPr sz="2000" b="0" i="0">
                <a:solidFill>
                  <a:srgbClr val="1A1A1A"/>
                </a:solidFill>
                <a:latin typeface="Calibri"/>
              </a:rPr>
              <a:t>Nothing links a headline to the book's exposure</a:t>
            </a:r>
          </a:p>
          <a:p>
            <a:pPr marL="274320" indent="-274320">
              <a:spcAft>
                <a:spcPts val="1000"/>
              </a:spcAft>
              <a:buClr>
                <a:srgbClr val="0E8A84"/>
              </a:buClr>
              <a:buFont typeface="Arial"/>
              <a:buChar char="•"/>
            </a:pPr>
            <a:r>
              <a:rPr sz="2000" b="1" i="0">
                <a:solidFill>
                  <a:srgbClr val="1A1A1A"/>
                </a:solidFill>
                <a:latin typeface="Calibri"/>
              </a:rPr>
              <a:t>Need: 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early warning, materiality ranking, instant portfolio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691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555B66"/>
                </a:solidFill>
                <a:latin typeface="Calibri"/>
              </a:rPr>
              <a:t>Today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219456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F2A44"/>
                </a:solidFill>
                <a:latin typeface="Calibri"/>
              </a:rPr>
              <a:t>Headline breaks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81544" y="2651760"/>
            <a:ext cx="274320" cy="0"/>
          </a:xfrm>
          <a:prstGeom prst="line">
            <a:avLst/>
          </a:prstGeom>
          <a:ln w="3175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8083296" y="219456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F2A44"/>
                </a:solidFill>
                <a:latin typeface="Calibri"/>
              </a:rPr>
              <a:t>Analyst reads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38360" y="2651760"/>
            <a:ext cx="274320" cy="0"/>
          </a:xfrm>
          <a:prstGeom prst="line">
            <a:avLst/>
          </a:prstGeom>
          <a:ln w="3175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0040112" y="219456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F2A44"/>
                </a:solidFill>
                <a:latin typeface="Calibri"/>
              </a:rPr>
              <a:t>Manual stress run, later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7490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E8A84"/>
                </a:solidFill>
                <a:latin typeface="Calibri"/>
              </a:rPr>
              <a:t>With the engine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25196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0E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Headline ingested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81544" y="4709160"/>
            <a:ext cx="274320" cy="0"/>
          </a:xfrm>
          <a:prstGeom prst="line">
            <a:avLst/>
          </a:prstGeom>
          <a:ln w="31750">
            <a:solidFill>
              <a:srgbClr val="0E8A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083296" y="425196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0E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Scored + explained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738360" y="4709160"/>
            <a:ext cx="274320" cy="0"/>
          </a:xfrm>
          <a:prstGeom prst="line">
            <a:avLst/>
          </a:prstGeom>
          <a:ln w="31750">
            <a:solidFill>
              <a:srgbClr val="0E8A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040112" y="425196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0E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Stress test triggered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57607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Measured pipeline latency: median 204.7 ms per document (n = 200, CPU laptop)</a:t>
            </a:r>
          </a:p>
        </p:txBody>
      </p:sp>
      <p:sp>
        <p:nvSpPr>
          <p:cNvPr id="18" name="Footer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Calibri"/>
              </a:rPr>
              <a:t>Risk Signal Engine · Code to Connect 2026 · decision-support prototype, not investment advice</a:t>
            </a:r>
          </a:p>
        </p:txBody>
      </p:sp>
      <p:sp>
        <p:nvSpPr>
          <p:cNvPr id="19" name="SlideNo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55B66"/>
                </a:solidFill>
                <a:latin typeface="Calibri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F2A44"/>
                </a:solidFill>
                <a:latin typeface="Calibri"/>
              </a:rPr>
              <a:t>Architecture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0E8A84"/>
                </a:solidFill>
                <a:latin typeface="Calibri"/>
              </a:rPr>
              <a:t>One NLP pipeline for live, replay, scripted demo and API input</a:t>
            </a:r>
          </a:p>
        </p:txBody>
      </p:sp>
      <p:sp>
        <p:nvSpPr>
          <p:cNvPr id="4" name="Arch0"/>
          <p:cNvSpPr/>
          <p:nvPr/>
        </p:nvSpPr>
        <p:spPr>
          <a:xfrm>
            <a:off x="548640" y="2057400"/>
            <a:ext cx="1664208" cy="23317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240280"/>
            <a:ext cx="1389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F2A44"/>
                </a:solidFill>
                <a:latin typeface="Calibri"/>
              </a:rPr>
              <a:t>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788920"/>
            <a:ext cx="138988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Google News, Reddit, Mastodon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31136" y="3218688"/>
            <a:ext cx="210312" cy="0"/>
          </a:xfrm>
          <a:prstGeom prst="line">
            <a:avLst/>
          </a:prstGeom>
          <a:ln w="31750">
            <a:solidFill>
              <a:srgbClr val="0E8A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Arch1"/>
          <p:cNvSpPr/>
          <p:nvPr/>
        </p:nvSpPr>
        <p:spPr>
          <a:xfrm>
            <a:off x="2459736" y="2057400"/>
            <a:ext cx="1664208" cy="23317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96896" y="2240280"/>
            <a:ext cx="1389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F2A44"/>
                </a:solidFill>
                <a:latin typeface="Calibri"/>
              </a:rPr>
              <a:t>Ingestion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96896" y="2788920"/>
            <a:ext cx="138988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Rate limits, retries, dedup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42232" y="3218688"/>
            <a:ext cx="210312" cy="0"/>
          </a:xfrm>
          <a:prstGeom prst="line">
            <a:avLst/>
          </a:prstGeom>
          <a:ln w="31750">
            <a:solidFill>
              <a:srgbClr val="0E8A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h2"/>
          <p:cNvSpPr/>
          <p:nvPr/>
        </p:nvSpPr>
        <p:spPr>
          <a:xfrm>
            <a:off x="4370832" y="2057400"/>
            <a:ext cx="1664208" cy="233172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2240280"/>
            <a:ext cx="1389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NLP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788920"/>
            <a:ext cx="138988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Entities, FinBERT, events, impact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53328" y="3218688"/>
            <a:ext cx="210312" cy="0"/>
          </a:xfrm>
          <a:prstGeom prst="line">
            <a:avLst/>
          </a:prstGeom>
          <a:ln w="31750">
            <a:solidFill>
              <a:srgbClr val="0E8A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Arch3"/>
          <p:cNvSpPr/>
          <p:nvPr/>
        </p:nvSpPr>
        <p:spPr>
          <a:xfrm>
            <a:off x="6281928" y="2057400"/>
            <a:ext cx="1664208" cy="23317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2240280"/>
            <a:ext cx="1389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F2A44"/>
                </a:solidFill>
                <a:latin typeface="Calibri"/>
              </a:rPr>
              <a:t>Signals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2788920"/>
            <a:ext cx="138988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SQLite, bus, REST, SSE, JSONL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964424" y="3218688"/>
            <a:ext cx="210312" cy="0"/>
          </a:xfrm>
          <a:prstGeom prst="line">
            <a:avLst/>
          </a:prstGeom>
          <a:ln w="31750">
            <a:solidFill>
              <a:srgbClr val="0E8A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Arch4"/>
          <p:cNvSpPr/>
          <p:nvPr/>
        </p:nvSpPr>
        <p:spPr>
          <a:xfrm>
            <a:off x="8193024" y="2057400"/>
            <a:ext cx="1664208" cy="233172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0184" y="2240280"/>
            <a:ext cx="1389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Stress 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0184" y="2788920"/>
            <a:ext cx="138988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Module B triggers and pricers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875520" y="3218688"/>
            <a:ext cx="210312" cy="0"/>
          </a:xfrm>
          <a:prstGeom prst="line">
            <a:avLst/>
          </a:prstGeom>
          <a:ln w="31750">
            <a:solidFill>
              <a:srgbClr val="0E8A8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Arch5"/>
          <p:cNvSpPr/>
          <p:nvPr/>
        </p:nvSpPr>
        <p:spPr>
          <a:xfrm>
            <a:off x="10104120" y="2057400"/>
            <a:ext cx="1664208" cy="233172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240280"/>
            <a:ext cx="1389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F2A44"/>
                </a:solidFill>
                <a:latin typeface="Calibri"/>
              </a:rPr>
              <a:t>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2788920"/>
            <a:ext cx="138988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watchlist, propagation, what-if, brief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709160"/>
            <a:ext cx="11094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F2A44"/>
                </a:solidFill>
                <a:latin typeface="Calibri"/>
              </a:rPr>
              <a:t>Every record carries its provenance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166360"/>
            <a:ext cx="283464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9D3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166360"/>
            <a:ext cx="25603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E8A84"/>
                </a:solidFill>
                <a:latin typeface="Calibri"/>
              </a:rPr>
              <a:t>LIVE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fetched now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566160" y="5166360"/>
            <a:ext cx="38862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9D3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49040" y="5166360"/>
            <a:ext cx="36118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E8A84"/>
                </a:solidFill>
                <a:latin typeface="Calibri"/>
              </a:rPr>
              <a:t>CACHED_REAL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real, captured earlier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35240" y="5166360"/>
            <a:ext cx="4005072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9D3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18120" y="5166360"/>
            <a:ext cx="3730752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E8A84"/>
                </a:solidFill>
                <a:latin typeface="Calibri"/>
              </a:rPr>
              <a:t>SYNTHETIC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demo, user text, portfolio</a:t>
            </a:r>
          </a:p>
        </p:txBody>
      </p:sp>
      <p:sp>
        <p:nvSpPr>
          <p:cNvPr id="34" name="Footer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Calibri"/>
              </a:rPr>
              <a:t>Risk Signal Engine · Code to Connect 2026 · decision-support prototype, not investment advice</a:t>
            </a:r>
          </a:p>
        </p:txBody>
      </p:sp>
      <p:sp>
        <p:nvSpPr>
          <p:cNvPr id="35" name="SlideNo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55B66"/>
                </a:solidFill>
                <a:latin typeface="Calibri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F2A44"/>
                </a:solidFill>
                <a:latin typeface="Calibri"/>
              </a:rPr>
              <a:t>NLP risk engine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0E8A84"/>
                </a:solidFill>
                <a:latin typeface="Calibri"/>
              </a:rPr>
              <a:t>Every score is explained, every weight is published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47548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400"/>
              </a:spcAft>
              <a:buClr>
                <a:srgbClr val="0E8A84"/>
              </a:buClr>
              <a:buFont typeface="Arial"/>
              <a:buChar char="•"/>
            </a:pPr>
            <a:r>
              <a:rPr sz="2000" b="1" i="0">
                <a:solidFill>
                  <a:srgbClr val="1A1A1A"/>
                </a:solidFill>
                <a:latin typeface="Calibri"/>
              </a:rPr>
              <a:t>Entities: 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cashtags → aliases → spaCy → guarded fuzzy → MARKET</a:t>
            </a:r>
          </a:p>
          <a:p>
            <a:pPr marL="274320" indent="-274320">
              <a:spcAft>
                <a:spcPts val="1400"/>
              </a:spcAft>
              <a:buClr>
                <a:srgbClr val="0E8A84"/>
              </a:buClr>
              <a:buFont typeface="Arial"/>
              <a:buChar char="•"/>
            </a:pPr>
            <a:r>
              <a:rPr sz="2000" b="1" i="0">
                <a:solidFill>
                  <a:srgbClr val="1A1A1A"/>
                </a:solidFill>
                <a:latin typeface="Calibri"/>
              </a:rPr>
              <a:t>Sentiment: 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FinBERT, s = P(pos) − P(neg), lexicon fallback</a:t>
            </a:r>
          </a:p>
          <a:p>
            <a:pPr marL="274320" indent="-274320">
              <a:spcAft>
                <a:spcPts val="1400"/>
              </a:spcAft>
              <a:buClr>
                <a:srgbClr val="0E8A84"/>
              </a:buClr>
              <a:buFont typeface="Arial"/>
              <a:buChar char="•"/>
            </a:pPr>
            <a:r>
              <a:rPr sz="2000" b="1" i="0">
                <a:solidFill>
                  <a:srgbClr val="1A1A1A"/>
                </a:solidFill>
                <a:latin typeface="Calibri"/>
              </a:rPr>
              <a:t>Events: 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11-class rules with evidence phrases; zero-shot tested, kept off</a:t>
            </a:r>
          </a:p>
          <a:p>
            <a:pPr marL="274320" indent="-274320">
              <a:spcAft>
                <a:spcPts val="1400"/>
              </a:spcAft>
              <a:buClr>
                <a:srgbClr val="0E8A84"/>
              </a:buClr>
              <a:buFont typeface="Arial"/>
              <a:buChar char="•"/>
            </a:pPr>
            <a:r>
              <a:rPr sz="2000" b="1" i="0">
                <a:solidFill>
                  <a:srgbClr val="1A1A1A"/>
                </a:solidFill>
                <a:latin typeface="Calibri"/>
              </a:rPr>
              <a:t>Explainability: 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probabilities, evidence, factors, reason, business implication</a:t>
            </a:r>
          </a:p>
          <a:p>
            <a:pPr marL="274320" indent="-274320">
              <a:spcAft>
                <a:spcPts val="1400"/>
              </a:spcAft>
              <a:buClr>
                <a:srgbClr val="0E8A84"/>
              </a:buClr>
              <a:buFont typeface="Arial"/>
              <a:buChar char="•"/>
            </a:pPr>
            <a:r>
              <a:rPr sz="2000" b="1" i="0">
                <a:solidFill>
                  <a:srgbClr val="1A1A1A"/>
                </a:solidFill>
                <a:latin typeface="Calibri"/>
              </a:rPr>
              <a:t>Output: </a:t>
            </a:r>
            <a:r>
              <a:rPr sz="2000" b="0" i="0">
                <a:solidFill>
                  <a:srgbClr val="1A1A1A"/>
                </a:solidFill>
                <a:latin typeface="Calibri"/>
              </a:rPr>
              <a:t>RiskSignal JSON via REST, SSE stream, JSONL export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23560" y="4023360"/>
            <a:ext cx="60350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E8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0" y="4187952"/>
            <a:ext cx="557784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F2A44"/>
                </a:solidFill>
                <a:latin typeface="Calibri"/>
              </a:rPr>
              <a:t>Impact = 1 + 9 × Q × (</a:t>
            </a:r>
            <a:r>
              <a:rPr sz="1900" b="1" i="0">
                <a:solidFill>
                  <a:srgbClr val="0E8A84"/>
                </a:solidFill>
                <a:latin typeface="Calibri"/>
              </a:rPr>
              <a:t>0.40·E + 0.25·M + 0.20·X + 0.15·R</a:t>
            </a:r>
            <a:r>
              <a:rPr sz="1900" b="1" i="0">
                <a:solidFill>
                  <a:srgbClr val="1F2A44"/>
                </a:solidFill>
                <a:latin typeface="Calibri"/>
              </a:rPr>
              <a:t>)</a:t>
            </a:r>
          </a:p>
          <a:p>
            <a:pPr algn="l"/>
            <a:r>
              <a:rPr sz="1800" b="0" i="0">
                <a:solidFill>
                  <a:srgbClr val="1A1A1A"/>
                </a:solidFill>
                <a:latin typeface="Calibri"/>
              </a:rPr>
              <a:t>E event severity · M sentiment magnitude · X exposure · R credibility + corroboration · Q confidence</a:t>
            </a:r>
          </a:p>
          <a:p>
            <a:pPr algn="l"/>
            <a:r>
              <a:rPr sz="1800" b="0" i="0">
                <a:solidFill>
                  <a:srgbClr val="555B66"/>
                </a:solidFill>
                <a:latin typeface="Calibri"/>
              </a:rPr>
              <a:t>Expert-set priors, not calibrated</a:t>
            </a:r>
          </a:p>
        </p:txBody>
      </p:sp>
      <p:pic>
        <p:nvPicPr>
          <p:cNvPr id="7" name="Picture 6" descr="explain_fa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371600"/>
            <a:ext cx="6035040" cy="1670413"/>
          </a:xfrm>
          <a:prstGeom prst="rect">
            <a:avLst/>
          </a:prstGeom>
          <a:ln w="12700">
            <a:solidFill>
              <a:srgbClr val="C9D3DB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623560" y="3106021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Dashboard explainability: factor contributions for a SYNTHETIC demo signal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Calibri"/>
              </a:rPr>
              <a:t>Risk Signal Engine · Code to Connect 2026 · decision-support prototype, not investment advice</a:t>
            </a:r>
          </a:p>
        </p:txBody>
      </p:sp>
      <p:sp>
        <p:nvSpPr>
          <p:cNvPr id="10" name="SlideNo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55B66"/>
                </a:solidFill>
                <a:latin typeface="Calibri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F2A44"/>
                </a:solidFill>
                <a:latin typeface="Calibri"/>
              </a:rPr>
              <a:t>Stress testing (Module B)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0E8A84"/>
                </a:solidFill>
                <a:latin typeface="Calibri"/>
              </a:rPr>
              <a:t>High-impact news triggers a stress test of the 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3434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00"/>
              </a:spcAft>
              <a:buClr>
                <a:srgbClr val="0E8A84"/>
              </a:buClr>
              <a:buFont typeface="Arial"/>
              <a:buChar char="•"/>
            </a:pPr>
            <a:r>
              <a:rPr sz="1700" b="0" i="0">
                <a:solidFill>
                  <a:srgbClr val="1A1A1A"/>
                </a:solidFill>
                <a:latin typeface="Calibri"/>
              </a:rPr>
              <a:t>49 positions, $830m funded: loans, bonds, IRS, CDS hedges, FX, equity</a:t>
            </a:r>
          </a:p>
          <a:p>
            <a:pPr marL="274320" indent="-274320">
              <a:spcAft>
                <a:spcPts val="800"/>
              </a:spcAft>
              <a:buClr>
                <a:srgbClr val="0E8A84"/>
              </a:buClr>
              <a:buFont typeface="Arial"/>
              <a:buChar char="•"/>
            </a:pPr>
            <a:r>
              <a:rPr sz="1700" b="0" i="0">
                <a:solidFill>
                  <a:srgbClr val="1A1A1A"/>
                </a:solidFill>
                <a:latin typeface="Calibri"/>
              </a:rPr>
              <a:t>Systemic: market-wide or corroborated, news-sourced, impact ≥ 7</a:t>
            </a:r>
          </a:p>
          <a:p>
            <a:pPr marL="274320" indent="-274320">
              <a:spcAft>
                <a:spcPts val="800"/>
              </a:spcAft>
              <a:buClr>
                <a:srgbClr val="0E8A84"/>
              </a:buClr>
              <a:buFont typeface="Arial"/>
              <a:buChar char="•"/>
            </a:pPr>
            <a:r>
              <a:rPr sz="1700" b="0" i="0">
                <a:solidFill>
                  <a:srgbClr val="1A1A1A"/>
                </a:solidFill>
                <a:latin typeface="Calibri"/>
              </a:rPr>
              <a:t>Issuer: credit/regulatory/legal, held issuer, negative news</a:t>
            </a:r>
          </a:p>
          <a:p>
            <a:pPr marL="274320" indent="-274320">
              <a:spcAft>
                <a:spcPts val="800"/>
              </a:spcAft>
              <a:buClr>
                <a:srgbClr val="0E8A84"/>
              </a:buClr>
              <a:buFont typeface="Arial"/>
              <a:buChar char="•"/>
            </a:pPr>
            <a:r>
              <a:rPr sz="1700" b="0" i="0">
                <a:solidFill>
                  <a:srgbClr val="1A1A1A"/>
                </a:solidFill>
                <a:latin typeface="Calibri"/>
              </a:rPr>
              <a:t>What-if sliders reprice the book instantly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4251960"/>
            <a:ext cx="237744" cy="237744"/>
          </a:xfrm>
          <a:prstGeom prst="ellipse">
            <a:avLst/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4160520"/>
            <a:ext cx="3931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CA30C"/>
                </a:solidFill>
                <a:latin typeface="Calibri"/>
              </a:rPr>
              <a:t>0.41% GREEN 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Tata Motors downgrade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4709160"/>
            <a:ext cx="237744" cy="237744"/>
          </a:xfrm>
          <a:prstGeom prst="ellipse">
            <a:avLst/>
          </a:prstGeom>
          <a:solidFill>
            <a:srgbClr val="C9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617720"/>
            <a:ext cx="3931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C98A00"/>
                </a:solidFill>
                <a:latin typeface="Calibri"/>
              </a:rPr>
              <a:t>1.32% AMBER 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Invasion (1 source)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5166360"/>
            <a:ext cx="237744" cy="237744"/>
          </a:xfrm>
          <a:prstGeom prst="ellipse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5074920"/>
            <a:ext cx="3931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D03B3B"/>
                </a:solidFill>
                <a:latin typeface="Calibri"/>
              </a:rPr>
              <a:t>2.45% RED 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Corroborated (2 sources)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77840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03B3B"/>
                </a:solidFill>
                <a:latin typeface="Calibri"/>
              </a:rPr>
              <a:t>Simplified, illustrative hackathon stress model. Not a production or regulatory risk model.</a:t>
            </a:r>
          </a:p>
        </p:txBody>
      </p:sp>
      <p:pic>
        <p:nvPicPr>
          <p:cNvPr id="12" name="Picture 11" descr="stress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17320"/>
            <a:ext cx="6537960" cy="2451735"/>
          </a:xfrm>
          <a:prstGeom prst="rect">
            <a:avLst/>
          </a:prstGeom>
          <a:ln w="12700">
            <a:solidFill>
              <a:srgbClr val="C9D3DB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120640" y="3896487"/>
            <a:ext cx="6537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Before → after, corroborated geopolitical shock · Illustrative model, synthetic portfolio</a:t>
            </a:r>
          </a:p>
        </p:txBody>
      </p:sp>
      <p:pic>
        <p:nvPicPr>
          <p:cNvPr id="14" name="Picture 13" descr="propagation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4253103"/>
            <a:ext cx="2769617" cy="2010537"/>
          </a:xfrm>
          <a:prstGeom prst="rect">
            <a:avLst/>
          </a:prstGeom>
          <a:ln w="12700">
            <a:solidFill>
              <a:srgbClr val="C9D3DB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8118857" y="4253103"/>
            <a:ext cx="3539743" cy="20105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  <a:latin typeface="Calibri"/>
              </a:rPr>
              <a:t>Risk propagation</a:t>
            </a:r>
          </a:p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Direct vs second-order exposure over 16 hand-curated links (supplier, parent, peer). Tata Motors: $41m held, $23m more via Ford and Tesla.</a:t>
            </a:r>
          </a:p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Curated, not inferred; an attention measure, not a contagion model.</a:t>
            </a:r>
          </a:p>
        </p:txBody>
      </p:sp>
      <p:sp>
        <p:nvSpPr>
          <p:cNvPr id="16" name="Footer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Calibri"/>
              </a:rPr>
              <a:t>Demo losses: simulated, illustrative model, synthetic portfolio · not investment advice</a:t>
            </a:r>
          </a:p>
        </p:txBody>
      </p:sp>
      <p:sp>
        <p:nvSpPr>
          <p:cNvPr id="17" name="SlideNo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55B66"/>
                </a:solidFill>
                <a:latin typeface="Calibri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F2A44"/>
                </a:solidFill>
                <a:latin typeface="Calibri"/>
              </a:rPr>
              <a:t>Results and dashboard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548640" y="10515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0E8A84"/>
                </a:solidFill>
                <a:latin typeface="Calibri"/>
              </a:rPr>
              <a:t>Accuracy: preliminary (labels pending human review)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2103120" cy="132588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90472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F2A44"/>
                </a:solidFill>
                <a:latin typeface="Calibri"/>
              </a:rPr>
              <a:t>0.653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02082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Sentiment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33172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accuracy · FinBERT · n = 147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70632" y="1417320"/>
            <a:ext cx="2103120" cy="132588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35224" y="1490472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F2A44"/>
                </a:solidFill>
                <a:latin typeface="Calibri"/>
              </a:rPr>
              <a:t>0.81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5224" y="202082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5224" y="233172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accuracy · rules · n = 147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92624" y="1417320"/>
            <a:ext cx="2103120" cy="132588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57216" y="1490472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F2A44"/>
                </a:solidFill>
                <a:latin typeface="Calibri"/>
              </a:rPr>
              <a:t>0.898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57216" y="202082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Entities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7216" y="233172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accuracy · n = 147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14616" y="1417320"/>
            <a:ext cx="2103120" cy="132588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79208" y="1490472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F2A44"/>
                </a:solidFill>
                <a:latin typeface="Calibri"/>
              </a:rPr>
              <a:t>204.7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9208" y="202082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Median latency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9208" y="233172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p95 1085.2 ms · n = 200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36608" y="1417320"/>
            <a:ext cx="2103120" cy="132588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1490472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F2A44"/>
                </a:solidFill>
                <a:latin typeface="Calibri"/>
              </a:rPr>
              <a:t>84 → 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202082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Stress runs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233172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B66"/>
                </a:solidFill>
                <a:latin typeface="Calibri"/>
              </a:rPr>
              <a:t>replay after fixes · n = 911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7889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Preliminary (labels pending human review): labels drafted by an AI assistant, which also wrote the event rules. Treat as a smoke test, not a benchmark.</a:t>
            </a:r>
          </a:p>
        </p:txBody>
      </p:sp>
      <p:pic>
        <p:nvPicPr>
          <p:cNvPr id="25" name="Picture 24" descr="watch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0"/>
            <a:ext cx="4523232" cy="2423160"/>
          </a:xfrm>
          <a:prstGeom prst="rect">
            <a:avLst/>
          </a:prstGeom>
          <a:ln w="12700">
            <a:solidFill>
              <a:srgbClr val="C9D3DB"/>
            </a:solidFill>
          </a:ln>
        </p:spPr>
      </p:pic>
      <p:pic>
        <p:nvPicPr>
          <p:cNvPr id="26" name="Picture 25" descr="credit_bri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4752" y="3200400"/>
            <a:ext cx="4621312" cy="2423160"/>
          </a:xfrm>
          <a:prstGeom prst="rect">
            <a:avLst/>
          </a:prstGeom>
          <a:ln w="12700">
            <a:solidFill>
              <a:srgbClr val="C9D3DB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548640" y="5660136"/>
            <a:ext cx="4523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Early-warning watchlist (real data + SYNTHETIC story)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4752" y="5660136"/>
            <a:ext cx="46213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B66"/>
                </a:solidFill>
                <a:latin typeface="Calibri"/>
              </a:rPr>
              <a:t>One-click credit brief (template, no LLM; PDF)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4664" y="3200400"/>
            <a:ext cx="15383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F2A44"/>
                </a:solidFill>
                <a:latin typeface="Calibri"/>
              </a:rPr>
              <a:t>Business impact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04664" y="3611880"/>
            <a:ext cx="1538391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00"/>
              </a:spcAft>
              <a:buClr>
                <a:srgbClr val="0E8A84"/>
              </a:buClr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Calibri"/>
              </a:rPr>
              <a:t>Earlier warning on held names</a:t>
            </a:r>
          </a:p>
          <a:p>
            <a:pPr marL="274320" indent="-274320">
              <a:spcAft>
                <a:spcPts val="800"/>
              </a:spcAft>
              <a:buClr>
                <a:srgbClr val="0E8A84"/>
              </a:buClr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Calibri"/>
              </a:rPr>
              <a:t>Triage by materiality, rule shown</a:t>
            </a:r>
          </a:p>
          <a:p>
            <a:pPr marL="274320" indent="-274320">
              <a:spcAft>
                <a:spcPts val="800"/>
              </a:spcAft>
              <a:buClr>
                <a:srgbClr val="0E8A84"/>
              </a:buClr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Calibri"/>
              </a:rPr>
              <a:t>Audited portfolio view in seconds</a:t>
            </a:r>
          </a:p>
        </p:txBody>
      </p:sp>
      <p:sp>
        <p:nvSpPr>
          <p:cNvPr id="31" name="Footer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Calibri"/>
              </a:rPr>
              <a:t>Risk Signal Engine · Code to Connect 2026 · decision-support prototype, not investment advice</a:t>
            </a:r>
          </a:p>
        </p:txBody>
      </p:sp>
      <p:sp>
        <p:nvSpPr>
          <p:cNvPr id="32" name="SlideNo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55B66"/>
                </a:solidFill>
                <a:latin typeface="Calibri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F2A44"/>
                </a:solidFill>
                <a:latin typeface="Calibri"/>
              </a:rPr>
              <a:t>What is new, what is not, what is next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3566160" cy="352044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E8A84"/>
                </a:solidFill>
                <a:latin typeface="Calibri"/>
              </a:rPr>
              <a:t>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306324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Provenance on every record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One pipeline for live, replay and demo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Corroboration escalates severity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Trigger audit trail with the cause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566160" cy="352044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44568" y="13716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F2A44"/>
                </a:solidFill>
                <a:latin typeface="Calibri"/>
              </a:rPr>
              <a:t>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4568" y="1920240"/>
            <a:ext cx="306324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Weights are uncalibrated priors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Keyword rules still misfire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Headline-only news text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Small AI-labelled eval set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Illustrative stress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91856" y="1188720"/>
            <a:ext cx="3566160" cy="3520440"/>
          </a:xfrm>
          <a:prstGeom prst="roundRect">
            <a:avLst>
              <a:gd name="adj" fmla="val 6000"/>
            </a:avLst>
          </a:prstGeom>
          <a:solidFill>
            <a:srgbClr val="EE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66176" y="13716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E8A84"/>
                </a:solidFill>
                <a:latin typeface="Calibri"/>
              </a:rPr>
              <a:t>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66176" y="1920240"/>
            <a:ext cx="306324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Kafka streaming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Calibrate impact on market moves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Licensed full-text news</a:t>
            </a:r>
          </a:p>
          <a:p>
            <a:pPr marL="274320" indent="-274320">
              <a:spcAft>
                <a:spcPts val="600"/>
              </a:spcAft>
              <a:buClr>
                <a:srgbClr val="0E8A84"/>
              </a:buClr>
              <a:buFont typeface="Arial"/>
              <a:buChar char="•"/>
            </a:pPr>
            <a:r>
              <a:rPr sz="1800" b="0" i="0">
                <a:solidFill>
                  <a:srgbClr val="1A1A1A"/>
                </a:solidFill>
                <a:latin typeface="Calibri"/>
              </a:rPr>
              <a:t>Backtesting, full revaluation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83480"/>
            <a:ext cx="11094415" cy="1097280"/>
          </a:xfrm>
          <a:prstGeom prst="roundRect">
            <a:avLst>
              <a:gd name="adj" fmla="val 6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983480"/>
            <a:ext cx="1036289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An honest, explainable bridge from text to portfolio risk that runs offline on a laptop.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Calibri"/>
              </a:rPr>
              <a:t>Risk Signal Engine · Code to Connect 2026 · decision-support prototype, not investment advice</a:t>
            </a:r>
          </a:p>
        </p:txBody>
      </p:sp>
      <p:sp>
        <p:nvSpPr>
          <p:cNvPr id="15" name="SlideNo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55B66"/>
                </a:solidFill>
                <a:latin typeface="Calibri"/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