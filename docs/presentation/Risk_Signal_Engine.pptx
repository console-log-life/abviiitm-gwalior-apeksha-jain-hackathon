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number you will see is either measured by a script in the repository or clearly labelled as simulated or synthetic. The problem: risk-relevant events surface in text first, and nothing connects them to the portfolio until someone reads and calculates. Our answer: an NLP risk engine plus an event-driven stress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this as decision support, not trading signals. Users: risk managers, credit analysts, portfolio managers. We make no ROI or time-saved claim; the only speed number is the measured per-document latency of the pipeline.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 are only claimed after our probe script passed on this machine. Adapters never crash the app: timeouts, bounded retries and backoff, with health shown in the dashboard. The stress engine is just a subscriber on the event bus. The whole demo runs offline after a one-time model download.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the formula with the example on the right: event severity and strong negative sentiment dominate, the signal is market-wide, and two independent sources corroborate it. The weights are expert priors, published at /methodology; calibration against market reactions is future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disclaimer aloud. In the demo the Tata Motors downgrade triggers an issuer-only stress; our CDS hedge offsets much of it. The invasion headline triggers a moderate systemic stress; a second independent source escalates it to severe, above our 2% risk appetite.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caveat plainly: the evaluation labels were drafted by an AI assistant and are pending human review, and the same assistant wrote the rules, so those numbers are a smoke test. Replaying 911 real captured documents, our false-trigger fixes cut simulated stress runs from 84 to 50 and removed every run triggered by social posts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takeaway and invite the judges to type their own headline into the dashboard. If asked about weaknesses, the limitations column is the honest list; docs/judge_qa.md has the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1F2A44"/>
                </a:solidFill>
                <a:latin typeface="Calibri"/>
              </a:rPr>
              <a:t>Risk Signal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0" i="0">
                <a:solidFill>
                  <a:srgbClr val="0E8A84"/>
                </a:solidFill>
                <a:latin typeface="Calibri"/>
              </a:rPr>
              <a:t>From breaking news and social posts to a portfolio stress test, automatically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788920"/>
            <a:ext cx="5394960" cy="2377440"/>
          </a:xfrm>
          <a:prstGeom prst="roundRect">
            <a:avLst>
              <a:gd name="adj" fmla="val 6000"/>
            </a:avLst>
          </a:prstGeom>
          <a:solidFill>
            <a:srgbClr val="EE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301752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F2A44"/>
                </a:solidFill>
                <a:latin typeface="Calibri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566160"/>
            <a:ext cx="47548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Calibri"/>
              </a:rPr>
              <a:t>Downgrades, sanctions, probes and rate moves hit unstructured text first. Risk teams read them by hand, and the portfolio impact is worked out later.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2788920"/>
            <a:ext cx="5394960" cy="2377440"/>
          </a:xfrm>
          <a:prstGeom prst="roundRect">
            <a:avLst>
              <a:gd name="adj" fmla="val 6000"/>
            </a:avLst>
          </a:prstGeom>
          <a:solidFill>
            <a:srgbClr val="EE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301752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F2A44"/>
                </a:solidFill>
                <a:latin typeface="Calibri"/>
              </a:rPr>
              <a:t>Our 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3566160"/>
            <a:ext cx="47548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Calibri"/>
              </a:rPr>
              <a:t>An NLP engine scores every item for sentiment, event type and a transparent 1–10 impact, then triggers a stress test of a loans, bonds and derivatives book.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5321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555B66"/>
                </a:solidFill>
                <a:latin typeface="Calibri"/>
              </a:rPr>
              <a:t>S&amp;P Global × CRISIL · Code to Connect Hackathon 2026 · Module B: Strategic Portfolio Stress Testing</a:t>
            </a:r>
          </a:p>
        </p:txBody>
      </p:sp>
      <p:sp>
        <p:nvSpPr>
          <p:cNvPr id="11" name="Footer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Calibri"/>
              </a:rPr>
              <a:t>Risk Signal Engine · Code to Connect 2026 · decision-support prototype, not investment advice</a:t>
            </a:r>
          </a:p>
        </p:txBody>
      </p:sp>
      <p:sp>
        <p:nvSpPr>
          <p:cNvPr id="12" name="SlideNo"/>
          <p:cNvSpPr txBox="1"/>
          <p:nvPr/>
        </p:nvSpPr>
        <p:spPr>
          <a:xfrm>
            <a:off x="10911535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55B66"/>
                </a:solidFill>
                <a:latin typeface="Calibri"/>
              </a:rPr>
              <a:t>1 /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F2A44"/>
                </a:solidFill>
                <a:latin typeface="Calibri"/>
              </a:rPr>
              <a:t>Why it matters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105156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0E8A84"/>
                </a:solidFill>
                <a:latin typeface="Calibri"/>
              </a:rPr>
              <a:t>Risk shows up in text before it shows up in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51206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1000"/>
              </a:spcAft>
              <a:buClr>
                <a:srgbClr val="0E8A84"/>
              </a:buClr>
              <a:buFont typeface="Arial"/>
              <a:buChar char="•"/>
            </a:pPr>
            <a:r>
              <a:rPr sz="2000" b="0" i="0">
                <a:solidFill>
                  <a:srgbClr val="1A1A1A"/>
                </a:solidFill>
                <a:latin typeface="Calibri"/>
              </a:rPr>
              <a:t>Credit analysts and risk teams monitor hundreds of issuers</a:t>
            </a:r>
          </a:p>
          <a:p>
            <a:pPr marL="274320" indent="-274320">
              <a:spcAft>
                <a:spcPts val="1000"/>
              </a:spcAft>
              <a:buClr>
                <a:srgbClr val="0E8A84"/>
              </a:buClr>
              <a:buFont typeface="Arial"/>
              <a:buChar char="•"/>
            </a:pPr>
            <a:r>
              <a:rPr sz="2000" b="0" i="0">
                <a:solidFill>
                  <a:srgbClr val="1A1A1A"/>
                </a:solidFill>
                <a:latin typeface="Calibri"/>
              </a:rPr>
              <a:t>Downgrades, probes and sanctions break as headlines and posts</a:t>
            </a:r>
          </a:p>
          <a:p>
            <a:pPr marL="274320" indent="-274320">
              <a:spcAft>
                <a:spcPts val="1000"/>
              </a:spcAft>
              <a:buClr>
                <a:srgbClr val="0E8A84"/>
              </a:buClr>
              <a:buFont typeface="Arial"/>
              <a:buChar char="•"/>
            </a:pPr>
            <a:r>
              <a:rPr sz="2000" b="0" i="0">
                <a:solidFill>
                  <a:srgbClr val="1A1A1A"/>
                </a:solidFill>
                <a:latin typeface="Calibri"/>
              </a:rPr>
              <a:t>Manual triage is slow, noisy and duplicated</a:t>
            </a:r>
          </a:p>
          <a:p>
            <a:pPr marL="274320" indent="-274320">
              <a:spcAft>
                <a:spcPts val="1000"/>
              </a:spcAft>
              <a:buClr>
                <a:srgbClr val="0E8A84"/>
              </a:buClr>
              <a:buFont typeface="Arial"/>
              <a:buChar char="•"/>
            </a:pPr>
            <a:r>
              <a:rPr sz="2000" b="0" i="0">
                <a:solidFill>
                  <a:srgbClr val="1A1A1A"/>
                </a:solidFill>
                <a:latin typeface="Calibri"/>
              </a:rPr>
              <a:t>Nothing links a headline to the book's exposure</a:t>
            </a:r>
          </a:p>
          <a:p>
            <a:pPr marL="274320" indent="-274320">
              <a:spcAft>
                <a:spcPts val="1000"/>
              </a:spcAft>
              <a:buClr>
                <a:srgbClr val="0E8A84"/>
              </a:buClr>
              <a:buFont typeface="Arial"/>
              <a:buChar char="•"/>
            </a:pPr>
            <a:r>
              <a:rPr sz="2000" b="1" i="0">
                <a:solidFill>
                  <a:srgbClr val="1A1A1A"/>
                </a:solidFill>
                <a:latin typeface="Calibri"/>
              </a:rPr>
              <a:t>Need: </a:t>
            </a:r>
            <a:r>
              <a:rPr sz="2000" b="0" i="0">
                <a:solidFill>
                  <a:srgbClr val="1A1A1A"/>
                </a:solidFill>
                <a:latin typeface="Calibri"/>
              </a:rPr>
              <a:t>early warning, materiality ranking, instant portfolio 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0" y="169164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555B66"/>
                </a:solidFill>
                <a:latin typeface="Calibri"/>
              </a:rPr>
              <a:t>Today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2194560"/>
            <a:ext cx="1627632" cy="914400"/>
          </a:xfrm>
          <a:prstGeom prst="roundRect">
            <a:avLst>
              <a:gd name="adj" fmla="val 6000"/>
            </a:avLst>
          </a:prstGeom>
          <a:solidFill>
            <a:srgbClr val="EE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1F2A44"/>
                </a:solidFill>
                <a:latin typeface="Calibri"/>
              </a:rPr>
              <a:t>Headline breaks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781544" y="2651760"/>
            <a:ext cx="274320" cy="0"/>
          </a:xfrm>
          <a:prstGeom prst="line">
            <a:avLst/>
          </a:prstGeom>
          <a:ln w="31750">
            <a:solidFill>
              <a:srgbClr val="555B6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8083296" y="2194560"/>
            <a:ext cx="1627632" cy="914400"/>
          </a:xfrm>
          <a:prstGeom prst="roundRect">
            <a:avLst>
              <a:gd name="adj" fmla="val 6000"/>
            </a:avLst>
          </a:prstGeom>
          <a:solidFill>
            <a:srgbClr val="EE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1F2A44"/>
                </a:solidFill>
                <a:latin typeface="Calibri"/>
              </a:rPr>
              <a:t>Analyst reads 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738360" y="2651760"/>
            <a:ext cx="274320" cy="0"/>
          </a:xfrm>
          <a:prstGeom prst="line">
            <a:avLst/>
          </a:prstGeom>
          <a:ln w="31750">
            <a:solidFill>
              <a:srgbClr val="555B6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10040112" y="2194560"/>
            <a:ext cx="1627632" cy="914400"/>
          </a:xfrm>
          <a:prstGeom prst="roundRect">
            <a:avLst>
              <a:gd name="adj" fmla="val 6000"/>
            </a:avLst>
          </a:prstGeom>
          <a:solidFill>
            <a:srgbClr val="EE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1F2A44"/>
                </a:solidFill>
                <a:latin typeface="Calibri"/>
              </a:rPr>
              <a:t>Manual stress run, later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374904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E8A84"/>
                </a:solidFill>
                <a:latin typeface="Calibri"/>
              </a:rPr>
              <a:t>With the engine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4251960"/>
            <a:ext cx="1627632" cy="914400"/>
          </a:xfrm>
          <a:prstGeom prst="roundRect">
            <a:avLst>
              <a:gd name="adj" fmla="val 6000"/>
            </a:avLst>
          </a:prstGeom>
          <a:solidFill>
            <a:srgbClr val="0E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Headline ingested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781544" y="4709160"/>
            <a:ext cx="274320" cy="0"/>
          </a:xfrm>
          <a:prstGeom prst="line">
            <a:avLst/>
          </a:prstGeom>
          <a:ln w="31750">
            <a:solidFill>
              <a:srgbClr val="0E8A8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083296" y="4251960"/>
            <a:ext cx="1627632" cy="914400"/>
          </a:xfrm>
          <a:prstGeom prst="roundRect">
            <a:avLst>
              <a:gd name="adj" fmla="val 6000"/>
            </a:avLst>
          </a:prstGeom>
          <a:solidFill>
            <a:srgbClr val="0E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Scored + explained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738360" y="4709160"/>
            <a:ext cx="274320" cy="0"/>
          </a:xfrm>
          <a:prstGeom prst="line">
            <a:avLst/>
          </a:prstGeom>
          <a:ln w="31750">
            <a:solidFill>
              <a:srgbClr val="0E8A8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0040112" y="4251960"/>
            <a:ext cx="1627632" cy="914400"/>
          </a:xfrm>
          <a:prstGeom prst="roundRect">
            <a:avLst>
              <a:gd name="adj" fmla="val 6000"/>
            </a:avLst>
          </a:prstGeom>
          <a:solidFill>
            <a:srgbClr val="0E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Stress test triggered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57607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555B66"/>
                </a:solidFill>
                <a:latin typeface="Calibri"/>
              </a:rPr>
              <a:t>Measured pipeline latency: median 204.7 ms per document (n = 200, CPU laptop)</a:t>
            </a:r>
          </a:p>
        </p:txBody>
      </p:sp>
      <p:sp>
        <p:nvSpPr>
          <p:cNvPr id="18" name="Footer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Calibri"/>
              </a:rPr>
              <a:t>Risk Signal Engine · Code to Connect 2026 · decision-support prototype, not investment advice</a:t>
            </a:r>
          </a:p>
        </p:txBody>
      </p:sp>
      <p:sp>
        <p:nvSpPr>
          <p:cNvPr id="19" name="SlideNo"/>
          <p:cNvSpPr txBox="1"/>
          <p:nvPr/>
        </p:nvSpPr>
        <p:spPr>
          <a:xfrm>
            <a:off x="10911535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55B66"/>
                </a:solidFill>
                <a:latin typeface="Calibri"/>
              </a:rPr>
              <a:t>2 /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F2A44"/>
                </a:solidFill>
                <a:latin typeface="Calibri"/>
              </a:rPr>
              <a:t>Architecture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105156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0E8A84"/>
                </a:solidFill>
                <a:latin typeface="Calibri"/>
              </a:rPr>
              <a:t>One NLP pipeline for live, replay, scripted demo and API input</a:t>
            </a:r>
          </a:p>
        </p:txBody>
      </p:sp>
      <p:sp>
        <p:nvSpPr>
          <p:cNvPr id="4" name="Arch0"/>
          <p:cNvSpPr/>
          <p:nvPr/>
        </p:nvSpPr>
        <p:spPr>
          <a:xfrm>
            <a:off x="548640" y="2057400"/>
            <a:ext cx="1664208" cy="2331720"/>
          </a:xfrm>
          <a:prstGeom prst="roundRect">
            <a:avLst>
              <a:gd name="adj" fmla="val 6000"/>
            </a:avLst>
          </a:prstGeom>
          <a:solidFill>
            <a:srgbClr val="EE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240280"/>
            <a:ext cx="13898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F2A44"/>
                </a:solidFill>
                <a:latin typeface="Calibri"/>
              </a:rPr>
              <a:t>Sources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788920"/>
            <a:ext cx="1389888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1A1A1A"/>
                </a:solidFill>
                <a:latin typeface="Calibri"/>
              </a:rPr>
              <a:t>Google News, Reddit, Mastodon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31136" y="3218688"/>
            <a:ext cx="210312" cy="0"/>
          </a:xfrm>
          <a:prstGeom prst="line">
            <a:avLst/>
          </a:prstGeom>
          <a:ln w="31750">
            <a:solidFill>
              <a:srgbClr val="0E8A8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Arch1"/>
          <p:cNvSpPr/>
          <p:nvPr/>
        </p:nvSpPr>
        <p:spPr>
          <a:xfrm>
            <a:off x="2459736" y="2057400"/>
            <a:ext cx="1664208" cy="2331720"/>
          </a:xfrm>
          <a:prstGeom prst="roundRect">
            <a:avLst>
              <a:gd name="adj" fmla="val 6000"/>
            </a:avLst>
          </a:prstGeom>
          <a:solidFill>
            <a:srgbClr val="EE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96896" y="2240280"/>
            <a:ext cx="13898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F2A44"/>
                </a:solidFill>
                <a:latin typeface="Calibri"/>
              </a:rPr>
              <a:t>Ingestion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96896" y="2788920"/>
            <a:ext cx="1389888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1A1A1A"/>
                </a:solidFill>
                <a:latin typeface="Calibri"/>
              </a:rPr>
              <a:t>Rate limits, retries, dedup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142232" y="3218688"/>
            <a:ext cx="210312" cy="0"/>
          </a:xfrm>
          <a:prstGeom prst="line">
            <a:avLst/>
          </a:prstGeom>
          <a:ln w="31750">
            <a:solidFill>
              <a:srgbClr val="0E8A8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Arch2"/>
          <p:cNvSpPr/>
          <p:nvPr/>
        </p:nvSpPr>
        <p:spPr>
          <a:xfrm>
            <a:off x="4370832" y="2057400"/>
            <a:ext cx="1664208" cy="2331720"/>
          </a:xfrm>
          <a:prstGeom prst="roundRect">
            <a:avLst>
              <a:gd name="adj" fmla="val 6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7992" y="2240280"/>
            <a:ext cx="13898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NLP pipeline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07992" y="2788920"/>
            <a:ext cx="1389888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Calibri"/>
              </a:rPr>
              <a:t>Entities, FinBERT, events, impact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053328" y="3218688"/>
            <a:ext cx="210312" cy="0"/>
          </a:xfrm>
          <a:prstGeom prst="line">
            <a:avLst/>
          </a:prstGeom>
          <a:ln w="31750">
            <a:solidFill>
              <a:srgbClr val="0E8A8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Arch3"/>
          <p:cNvSpPr/>
          <p:nvPr/>
        </p:nvSpPr>
        <p:spPr>
          <a:xfrm>
            <a:off x="6281928" y="2057400"/>
            <a:ext cx="1664208" cy="2331720"/>
          </a:xfrm>
          <a:prstGeom prst="roundRect">
            <a:avLst>
              <a:gd name="adj" fmla="val 6000"/>
            </a:avLst>
          </a:prstGeom>
          <a:solidFill>
            <a:srgbClr val="EE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9088" y="2240280"/>
            <a:ext cx="13898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F2A44"/>
                </a:solidFill>
                <a:latin typeface="Calibri"/>
              </a:rPr>
              <a:t>Signals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2788920"/>
            <a:ext cx="1389888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1A1A1A"/>
                </a:solidFill>
                <a:latin typeface="Calibri"/>
              </a:rPr>
              <a:t>SQLite, bus, REST, SSE, JSONL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964424" y="3218688"/>
            <a:ext cx="210312" cy="0"/>
          </a:xfrm>
          <a:prstGeom prst="line">
            <a:avLst/>
          </a:prstGeom>
          <a:ln w="31750">
            <a:solidFill>
              <a:srgbClr val="0E8A8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Arch4"/>
          <p:cNvSpPr/>
          <p:nvPr/>
        </p:nvSpPr>
        <p:spPr>
          <a:xfrm>
            <a:off x="8193024" y="2057400"/>
            <a:ext cx="1664208" cy="2331720"/>
          </a:xfrm>
          <a:prstGeom prst="roundRect">
            <a:avLst>
              <a:gd name="adj" fmla="val 6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30184" y="2240280"/>
            <a:ext cx="13898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Stress engine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0184" y="2788920"/>
            <a:ext cx="1389888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Calibri"/>
              </a:rPr>
              <a:t>Module B triggers and pricers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875520" y="3218688"/>
            <a:ext cx="210312" cy="0"/>
          </a:xfrm>
          <a:prstGeom prst="line">
            <a:avLst/>
          </a:prstGeom>
          <a:ln w="31750">
            <a:solidFill>
              <a:srgbClr val="0E8A8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Arch5"/>
          <p:cNvSpPr/>
          <p:nvPr/>
        </p:nvSpPr>
        <p:spPr>
          <a:xfrm>
            <a:off x="10104120" y="2057400"/>
            <a:ext cx="1664208" cy="2331720"/>
          </a:xfrm>
          <a:prstGeom prst="roundRect">
            <a:avLst>
              <a:gd name="adj" fmla="val 6000"/>
            </a:avLst>
          </a:prstGeom>
          <a:solidFill>
            <a:srgbClr val="EE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41280" y="2240280"/>
            <a:ext cx="13898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F2A44"/>
                </a:solidFill>
                <a:latin typeface="Calibri"/>
              </a:rPr>
              <a:t>Dashboard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2788920"/>
            <a:ext cx="1389888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1A1A1A"/>
                </a:solidFill>
                <a:latin typeface="Calibri"/>
              </a:rPr>
              <a:t>12 sections and explanations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709160"/>
            <a:ext cx="1109441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1F2A44"/>
                </a:solidFill>
                <a:latin typeface="Calibri"/>
              </a:rPr>
              <a:t>Every record carries its provenance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166360"/>
            <a:ext cx="283464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9D3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5166360"/>
            <a:ext cx="25603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E8A84"/>
                </a:solidFill>
                <a:latin typeface="Calibri"/>
              </a:rPr>
              <a:t>LIVE  </a:t>
            </a:r>
            <a:r>
              <a:rPr sz="1800" b="0" i="0">
                <a:solidFill>
                  <a:srgbClr val="1A1A1A"/>
                </a:solidFill>
                <a:latin typeface="Calibri"/>
              </a:rPr>
              <a:t>fetched now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566160" y="5166360"/>
            <a:ext cx="388620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9D3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49040" y="5166360"/>
            <a:ext cx="361188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E8A84"/>
                </a:solidFill>
                <a:latin typeface="Calibri"/>
              </a:rPr>
              <a:t>CACHED_REAL  </a:t>
            </a:r>
            <a:r>
              <a:rPr sz="1800" b="0" i="0">
                <a:solidFill>
                  <a:srgbClr val="1A1A1A"/>
                </a:solidFill>
                <a:latin typeface="Calibri"/>
              </a:rPr>
              <a:t>real, captured earlier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635240" y="5166360"/>
            <a:ext cx="4005072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9D3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18120" y="5166360"/>
            <a:ext cx="3730752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E8A84"/>
                </a:solidFill>
                <a:latin typeface="Calibri"/>
              </a:rPr>
              <a:t>SYNTHETIC  </a:t>
            </a:r>
            <a:r>
              <a:rPr sz="1800" b="0" i="0">
                <a:solidFill>
                  <a:srgbClr val="1A1A1A"/>
                </a:solidFill>
                <a:latin typeface="Calibri"/>
              </a:rPr>
              <a:t>demo, user text, portfolio</a:t>
            </a:r>
          </a:p>
        </p:txBody>
      </p:sp>
      <p:sp>
        <p:nvSpPr>
          <p:cNvPr id="34" name="Footer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Calibri"/>
              </a:rPr>
              <a:t>Risk Signal Engine · Code to Connect 2026 · decision-support prototype, not investment advice</a:t>
            </a:r>
          </a:p>
        </p:txBody>
      </p:sp>
      <p:sp>
        <p:nvSpPr>
          <p:cNvPr id="35" name="SlideNo"/>
          <p:cNvSpPr txBox="1"/>
          <p:nvPr/>
        </p:nvSpPr>
        <p:spPr>
          <a:xfrm>
            <a:off x="10911535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55B66"/>
                </a:solidFill>
                <a:latin typeface="Calibri"/>
              </a:rPr>
              <a:t>3 /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F2A44"/>
                </a:solidFill>
                <a:latin typeface="Calibri"/>
              </a:rPr>
              <a:t>NLP risk engine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105156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0E8A84"/>
                </a:solidFill>
                <a:latin typeface="Calibri"/>
              </a:rPr>
              <a:t>Every score is explained, every weight is published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47548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1400"/>
              </a:spcAft>
              <a:buClr>
                <a:srgbClr val="0E8A84"/>
              </a:buClr>
              <a:buFont typeface="Arial"/>
              <a:buChar char="•"/>
            </a:pPr>
            <a:r>
              <a:rPr sz="2000" b="1" i="0">
                <a:solidFill>
                  <a:srgbClr val="1A1A1A"/>
                </a:solidFill>
                <a:latin typeface="Calibri"/>
              </a:rPr>
              <a:t>Entities: </a:t>
            </a:r>
            <a:r>
              <a:rPr sz="2000" b="0" i="0">
                <a:solidFill>
                  <a:srgbClr val="1A1A1A"/>
                </a:solidFill>
                <a:latin typeface="Calibri"/>
              </a:rPr>
              <a:t>cashtags → aliases → spaCy → guarded fuzzy → MARKET</a:t>
            </a:r>
          </a:p>
          <a:p>
            <a:pPr marL="274320" indent="-274320">
              <a:spcAft>
                <a:spcPts val="1400"/>
              </a:spcAft>
              <a:buClr>
                <a:srgbClr val="0E8A84"/>
              </a:buClr>
              <a:buFont typeface="Arial"/>
              <a:buChar char="•"/>
            </a:pPr>
            <a:r>
              <a:rPr sz="2000" b="1" i="0">
                <a:solidFill>
                  <a:srgbClr val="1A1A1A"/>
                </a:solidFill>
                <a:latin typeface="Calibri"/>
              </a:rPr>
              <a:t>Sentiment: </a:t>
            </a:r>
            <a:r>
              <a:rPr sz="2000" b="0" i="0">
                <a:solidFill>
                  <a:srgbClr val="1A1A1A"/>
                </a:solidFill>
                <a:latin typeface="Calibri"/>
              </a:rPr>
              <a:t>FinBERT, s = P(pos) − P(neg), lexicon fallback</a:t>
            </a:r>
          </a:p>
          <a:p>
            <a:pPr marL="274320" indent="-274320">
              <a:spcAft>
                <a:spcPts val="1400"/>
              </a:spcAft>
              <a:buClr>
                <a:srgbClr val="0E8A84"/>
              </a:buClr>
              <a:buFont typeface="Arial"/>
              <a:buChar char="•"/>
            </a:pPr>
            <a:r>
              <a:rPr sz="2000" b="1" i="0">
                <a:solidFill>
                  <a:srgbClr val="1A1A1A"/>
                </a:solidFill>
                <a:latin typeface="Calibri"/>
              </a:rPr>
              <a:t>Events: </a:t>
            </a:r>
            <a:r>
              <a:rPr sz="2000" b="0" i="0">
                <a:solidFill>
                  <a:srgbClr val="1A1A1A"/>
                </a:solidFill>
                <a:latin typeface="Calibri"/>
              </a:rPr>
              <a:t>11-class rules with evidence phrases; zero-shot tested, kept off</a:t>
            </a:r>
          </a:p>
          <a:p>
            <a:pPr marL="274320" indent="-274320">
              <a:spcAft>
                <a:spcPts val="1400"/>
              </a:spcAft>
              <a:buClr>
                <a:srgbClr val="0E8A84"/>
              </a:buClr>
              <a:buFont typeface="Arial"/>
              <a:buChar char="•"/>
            </a:pPr>
            <a:r>
              <a:rPr sz="2000" b="1" i="0">
                <a:solidFill>
                  <a:srgbClr val="1A1A1A"/>
                </a:solidFill>
                <a:latin typeface="Calibri"/>
              </a:rPr>
              <a:t>Explainability: </a:t>
            </a:r>
            <a:r>
              <a:rPr sz="2000" b="0" i="0">
                <a:solidFill>
                  <a:srgbClr val="1A1A1A"/>
                </a:solidFill>
                <a:latin typeface="Calibri"/>
              </a:rPr>
              <a:t>probabilities, evidence, factors, reason, business implication</a:t>
            </a:r>
          </a:p>
          <a:p>
            <a:pPr marL="274320" indent="-274320">
              <a:spcAft>
                <a:spcPts val="1400"/>
              </a:spcAft>
              <a:buClr>
                <a:srgbClr val="0E8A84"/>
              </a:buClr>
              <a:buFont typeface="Arial"/>
              <a:buChar char="•"/>
            </a:pPr>
            <a:r>
              <a:rPr sz="2000" b="1" i="0">
                <a:solidFill>
                  <a:srgbClr val="1A1A1A"/>
                </a:solidFill>
                <a:latin typeface="Calibri"/>
              </a:rPr>
              <a:t>Output: </a:t>
            </a:r>
            <a:r>
              <a:rPr sz="2000" b="0" i="0">
                <a:solidFill>
                  <a:srgbClr val="1A1A1A"/>
                </a:solidFill>
                <a:latin typeface="Calibri"/>
              </a:rPr>
              <a:t>RiskSignal JSON via REST, SSE stream, JSONL export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23560" y="4023360"/>
            <a:ext cx="603504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0E8A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0" y="4187952"/>
            <a:ext cx="5577840" cy="178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F2A44"/>
                </a:solidFill>
                <a:latin typeface="Calibri"/>
              </a:rPr>
              <a:t>Impact = 1 + 9 × Q × (</a:t>
            </a:r>
            <a:r>
              <a:rPr sz="1900" b="1" i="0">
                <a:solidFill>
                  <a:srgbClr val="0E8A84"/>
                </a:solidFill>
                <a:latin typeface="Calibri"/>
              </a:rPr>
              <a:t>0.40·E + 0.25·M + 0.20·X + 0.15·R</a:t>
            </a:r>
            <a:r>
              <a:rPr sz="1900" b="1" i="0">
                <a:solidFill>
                  <a:srgbClr val="1F2A44"/>
                </a:solidFill>
                <a:latin typeface="Calibri"/>
              </a:rPr>
              <a:t>)</a:t>
            </a:r>
          </a:p>
          <a:p>
            <a:pPr algn="l"/>
            <a:r>
              <a:rPr sz="1800" b="0" i="0">
                <a:solidFill>
                  <a:srgbClr val="1A1A1A"/>
                </a:solidFill>
                <a:latin typeface="Calibri"/>
              </a:rPr>
              <a:t>E event severity · M sentiment magnitude · X exposure · R credibility + corroboration · Q confidence</a:t>
            </a:r>
          </a:p>
          <a:p>
            <a:pPr algn="l"/>
            <a:r>
              <a:rPr sz="1800" b="0" i="0">
                <a:solidFill>
                  <a:srgbClr val="555B66"/>
                </a:solidFill>
                <a:latin typeface="Calibri"/>
              </a:rPr>
              <a:t>Expert-set priors, not calibrated</a:t>
            </a:r>
          </a:p>
        </p:txBody>
      </p:sp>
      <p:pic>
        <p:nvPicPr>
          <p:cNvPr id="7" name="Picture 6" descr="explain_fact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1371600"/>
            <a:ext cx="6035040" cy="1931213"/>
          </a:xfrm>
          <a:prstGeom prst="rect">
            <a:avLst/>
          </a:prstGeom>
          <a:ln w="12700">
            <a:solidFill>
              <a:srgbClr val="C9D3DB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623560" y="3366821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555B66"/>
                </a:solidFill>
                <a:latin typeface="Calibri"/>
              </a:rPr>
              <a:t>Dashboard explainability: factor contributions for a SYNTHETIC demo signal</a:t>
            </a:r>
          </a:p>
        </p:txBody>
      </p:sp>
      <p:sp>
        <p:nvSpPr>
          <p:cNvPr id="9" name="Footer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Calibri"/>
              </a:rPr>
              <a:t>Risk Signal Engine · Code to Connect 2026 · decision-support prototype, not investment advice</a:t>
            </a:r>
          </a:p>
        </p:txBody>
      </p:sp>
      <p:sp>
        <p:nvSpPr>
          <p:cNvPr id="10" name="SlideNo"/>
          <p:cNvSpPr txBox="1"/>
          <p:nvPr/>
        </p:nvSpPr>
        <p:spPr>
          <a:xfrm>
            <a:off x="10911535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55B66"/>
                </a:solidFill>
                <a:latin typeface="Calibri"/>
              </a:rPr>
              <a:t>4 /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F2A44"/>
                </a:solidFill>
                <a:latin typeface="Calibri"/>
              </a:rPr>
              <a:t>Stress testing (Module B)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105156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0E8A84"/>
                </a:solidFill>
                <a:latin typeface="Calibri"/>
              </a:rPr>
              <a:t>High-impact news triggers a stress test of the book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429768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1000"/>
              </a:spcAft>
              <a:buClr>
                <a:srgbClr val="0E8A84"/>
              </a:buClr>
              <a:buFont typeface="Arial"/>
              <a:buChar char="•"/>
            </a:pPr>
            <a:r>
              <a:rPr sz="1800" b="0" i="0">
                <a:solidFill>
                  <a:srgbClr val="1A1A1A"/>
                </a:solidFill>
                <a:latin typeface="Calibri"/>
              </a:rPr>
              <a:t>49 positions, $830m funded: loans, bonds, IRS, CDS hedges, FX, equity</a:t>
            </a:r>
          </a:p>
          <a:p>
            <a:pPr marL="274320" indent="-274320">
              <a:spcAft>
                <a:spcPts val="1000"/>
              </a:spcAft>
              <a:buClr>
                <a:srgbClr val="0E8A84"/>
              </a:buClr>
              <a:buFont typeface="Arial"/>
              <a:buChar char="•"/>
            </a:pPr>
            <a:r>
              <a:rPr sz="1800" b="0" i="0">
                <a:solidFill>
                  <a:srgbClr val="1A1A1A"/>
                </a:solidFill>
                <a:latin typeface="Calibri"/>
              </a:rPr>
              <a:t>Systemic: market-wide or corroborated, news-sourced, impact ≥ 7</a:t>
            </a:r>
          </a:p>
          <a:p>
            <a:pPr marL="274320" indent="-274320">
              <a:spcAft>
                <a:spcPts val="1000"/>
              </a:spcAft>
              <a:buClr>
                <a:srgbClr val="0E8A84"/>
              </a:buClr>
              <a:buFont typeface="Arial"/>
              <a:buChar char="•"/>
            </a:pPr>
            <a:r>
              <a:rPr sz="1800" b="0" i="0">
                <a:solidFill>
                  <a:srgbClr val="1A1A1A"/>
                </a:solidFill>
                <a:latin typeface="Calibri"/>
              </a:rPr>
              <a:t>Issuer: credit/regulatory/legal, held issuer, negative news</a:t>
            </a:r>
          </a:p>
          <a:p>
            <a:pPr marL="274320" indent="-274320">
              <a:spcAft>
                <a:spcPts val="1000"/>
              </a:spcAft>
              <a:buClr>
                <a:srgbClr val="0E8A84"/>
              </a:buClr>
              <a:buFont typeface="Arial"/>
              <a:buChar char="•"/>
            </a:pPr>
            <a:r>
              <a:rPr sz="1800" b="0" i="0">
                <a:solidFill>
                  <a:srgbClr val="1A1A1A"/>
                </a:solidFill>
                <a:latin typeface="Calibri"/>
              </a:rPr>
              <a:t>Cooldown and an audit trail for every run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4617720"/>
            <a:ext cx="256032" cy="256032"/>
          </a:xfrm>
          <a:prstGeom prst="ellipse">
            <a:avLst/>
          </a:prstGeom>
          <a:solidFill>
            <a:srgbClr val="0CA3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4526280"/>
            <a:ext cx="3931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0CA30C"/>
                </a:solidFill>
                <a:latin typeface="Calibri"/>
              </a:rPr>
              <a:t>0.41% GREEN  </a:t>
            </a:r>
            <a:r>
              <a:rPr sz="1800" b="0" i="0">
                <a:solidFill>
                  <a:srgbClr val="1A1A1A"/>
                </a:solidFill>
                <a:latin typeface="Calibri"/>
              </a:rPr>
              <a:t>Tata Motors downgrade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5166360"/>
            <a:ext cx="256032" cy="256032"/>
          </a:xfrm>
          <a:prstGeom prst="ellipse">
            <a:avLst/>
          </a:prstGeom>
          <a:solidFill>
            <a:srgbClr val="C9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5074920"/>
            <a:ext cx="3931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C98A00"/>
                </a:solidFill>
                <a:latin typeface="Calibri"/>
              </a:rPr>
              <a:t>1.32% AMBER  </a:t>
            </a:r>
            <a:r>
              <a:rPr sz="1800" b="0" i="0">
                <a:solidFill>
                  <a:srgbClr val="1A1A1A"/>
                </a:solidFill>
                <a:latin typeface="Calibri"/>
              </a:rPr>
              <a:t>Invasion (1 source)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5715000"/>
            <a:ext cx="256032" cy="256032"/>
          </a:xfrm>
          <a:prstGeom prst="ellipse">
            <a:avLst/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5623560"/>
            <a:ext cx="3931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D03B3B"/>
                </a:solidFill>
                <a:latin typeface="Calibri"/>
              </a:rPr>
              <a:t>2.45% RED  </a:t>
            </a:r>
            <a:r>
              <a:rPr sz="1800" b="0" i="0">
                <a:solidFill>
                  <a:srgbClr val="1A1A1A"/>
                </a:solidFill>
                <a:latin typeface="Calibri"/>
              </a:rPr>
              <a:t>Corroborated (2 sources)</a:t>
            </a:r>
          </a:p>
        </p:txBody>
      </p:sp>
      <p:pic>
        <p:nvPicPr>
          <p:cNvPr id="11" name="Picture 10" descr="stress_waterf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6360" y="1508760"/>
            <a:ext cx="6492240" cy="2478855"/>
          </a:xfrm>
          <a:prstGeom prst="rect">
            <a:avLst/>
          </a:prstGeom>
          <a:ln w="12700">
            <a:solidFill>
              <a:srgbClr val="C9D3DB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5166360" y="4079055"/>
            <a:ext cx="6492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555B66"/>
                </a:solidFill>
                <a:latin typeface="Calibri"/>
              </a:rPr>
              <a:t>Before → after, corroborated geopolitical shock · Illustrative model, synthetic portfolio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66360" y="4444815"/>
            <a:ext cx="6492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D03B3B"/>
                </a:solidFill>
                <a:latin typeface="Calibri"/>
              </a:rPr>
              <a:t>Simplified, illustrative hackathon stress model. Not a production or regulatory risk model.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Calibri"/>
              </a:rPr>
              <a:t>Demo losses: simulated, illustrative model, synthetic portfolio · not investment advice</a:t>
            </a:r>
          </a:p>
        </p:txBody>
      </p:sp>
      <p:sp>
        <p:nvSpPr>
          <p:cNvPr id="15" name="SlideNo"/>
          <p:cNvSpPr txBox="1"/>
          <p:nvPr/>
        </p:nvSpPr>
        <p:spPr>
          <a:xfrm>
            <a:off x="10911535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55B66"/>
                </a:solidFill>
                <a:latin typeface="Calibri"/>
              </a:rPr>
              <a:t>5 /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F2A44"/>
                </a:solidFill>
                <a:latin typeface="Calibri"/>
              </a:rPr>
              <a:t>Results and dashboard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105156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0E8A84"/>
                </a:solidFill>
                <a:latin typeface="Calibri"/>
              </a:rPr>
              <a:t>Accuracy: preliminary (labels pending human review)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2103120" cy="1417320"/>
          </a:xfrm>
          <a:prstGeom prst="roundRect">
            <a:avLst>
              <a:gd name="adj" fmla="val 6000"/>
            </a:avLst>
          </a:prstGeom>
          <a:solidFill>
            <a:srgbClr val="EE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50876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F2A44"/>
                </a:solidFill>
                <a:latin typeface="Calibri"/>
              </a:rPr>
              <a:t>0.653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075688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A1A1A"/>
                </a:solidFill>
                <a:latin typeface="Calibri"/>
              </a:rPr>
              <a:t>Sentiment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404872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55B66"/>
                </a:solidFill>
                <a:latin typeface="Calibri"/>
              </a:rPr>
              <a:t>accuracy · FinBERT · n = 147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0632" y="1417320"/>
            <a:ext cx="2103120" cy="1417320"/>
          </a:xfrm>
          <a:prstGeom prst="roundRect">
            <a:avLst>
              <a:gd name="adj" fmla="val 6000"/>
            </a:avLst>
          </a:prstGeom>
          <a:solidFill>
            <a:srgbClr val="EE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35224" y="150876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F2A44"/>
                </a:solidFill>
                <a:latin typeface="Calibri"/>
              </a:rPr>
              <a:t>0.81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35224" y="2075688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A1A1A"/>
                </a:solidFill>
                <a:latin typeface="Calibri"/>
              </a:rPr>
              <a:t>Events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35224" y="2404872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55B66"/>
                </a:solidFill>
                <a:latin typeface="Calibri"/>
              </a:rPr>
              <a:t>accuracy · rules · n = 147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92624" y="1417320"/>
            <a:ext cx="2103120" cy="1417320"/>
          </a:xfrm>
          <a:prstGeom prst="roundRect">
            <a:avLst>
              <a:gd name="adj" fmla="val 6000"/>
            </a:avLst>
          </a:prstGeom>
          <a:solidFill>
            <a:srgbClr val="EE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57216" y="150876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F2A44"/>
                </a:solidFill>
                <a:latin typeface="Calibri"/>
              </a:rPr>
              <a:t>0.898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57216" y="2075688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A1A1A"/>
                </a:solidFill>
                <a:latin typeface="Calibri"/>
              </a:rPr>
              <a:t>Entities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57216" y="2404872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55B66"/>
                </a:solidFill>
                <a:latin typeface="Calibri"/>
              </a:rPr>
              <a:t>accuracy · n = 147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14616" y="1417320"/>
            <a:ext cx="2103120" cy="1417320"/>
          </a:xfrm>
          <a:prstGeom prst="roundRect">
            <a:avLst>
              <a:gd name="adj" fmla="val 6000"/>
            </a:avLst>
          </a:prstGeom>
          <a:solidFill>
            <a:srgbClr val="EE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79208" y="150876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F2A44"/>
                </a:solidFill>
                <a:latin typeface="Calibri"/>
              </a:rPr>
              <a:t>204.7 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79208" y="2075688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A1A1A"/>
                </a:solidFill>
                <a:latin typeface="Calibri"/>
              </a:rPr>
              <a:t>Median latency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79208" y="2404872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55B66"/>
                </a:solidFill>
                <a:latin typeface="Calibri"/>
              </a:rPr>
              <a:t>p95 1085.2 ms · n = 200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36608" y="1417320"/>
            <a:ext cx="2103120" cy="1417320"/>
          </a:xfrm>
          <a:prstGeom prst="roundRect">
            <a:avLst>
              <a:gd name="adj" fmla="val 6000"/>
            </a:avLst>
          </a:prstGeom>
          <a:solidFill>
            <a:srgbClr val="EE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0" y="150876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F2A44"/>
                </a:solidFill>
                <a:latin typeface="Calibri"/>
              </a:rPr>
              <a:t>84 → 50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2075688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A1A1A"/>
                </a:solidFill>
                <a:latin typeface="Calibri"/>
              </a:rPr>
              <a:t>Stress runs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2404872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55B66"/>
                </a:solidFill>
                <a:latin typeface="Calibri"/>
              </a:rPr>
              <a:t>replay after fixes · n = 911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89864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555B66"/>
                </a:solidFill>
                <a:latin typeface="Calibri"/>
              </a:rPr>
              <a:t>Preliminary (labels pending human review): labels drafted by an AI assistant, which also wrote the event rules. Treat as a smoke test, not a benchmark.</a:t>
            </a:r>
          </a:p>
        </p:txBody>
      </p:sp>
      <p:pic>
        <p:nvPicPr>
          <p:cNvPr id="25" name="Picture 24" descr="home_kp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337560"/>
            <a:ext cx="5789864" cy="1801291"/>
          </a:xfrm>
          <a:prstGeom prst="rect">
            <a:avLst/>
          </a:prstGeom>
          <a:ln w="12700">
            <a:solidFill>
              <a:srgbClr val="C9D3DB"/>
            </a:solidFill>
          </a:ln>
        </p:spPr>
      </p:pic>
      <p:pic>
        <p:nvPicPr>
          <p:cNvPr id="26" name="Picture 25" descr="signals_char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7104" y="3337560"/>
            <a:ext cx="5075946" cy="1801291"/>
          </a:xfrm>
          <a:prstGeom prst="rect">
            <a:avLst/>
          </a:prstGeom>
          <a:ln w="12700">
            <a:solidFill>
              <a:srgbClr val="C9D3DB"/>
            </a:solidFill>
          </a:ln>
        </p:spPr>
      </p:pic>
      <p:sp>
        <p:nvSpPr>
          <p:cNvPr id="27" name="TextBox 26"/>
          <p:cNvSpPr txBox="1"/>
          <p:nvPr/>
        </p:nvSpPr>
        <p:spPr>
          <a:xfrm>
            <a:off x="548640" y="5276011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F2A44"/>
                </a:solidFill>
                <a:latin typeface="Calibri"/>
              </a:rPr>
              <a:t>Business impact: </a:t>
            </a:r>
            <a:r>
              <a:rPr sz="1800" b="0" i="0">
                <a:solidFill>
                  <a:srgbClr val="1A1A1A"/>
                </a:solidFill>
                <a:latin typeface="Calibri"/>
              </a:rPr>
              <a:t>earlier warning, triage by materiality, an audited portfolio view in seconds. Decision support, not investment advice.</a:t>
            </a:r>
          </a:p>
        </p:txBody>
      </p:sp>
      <p:sp>
        <p:nvSpPr>
          <p:cNvPr id="28" name="Footer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Calibri"/>
              </a:rPr>
              <a:t>Risk Signal Engine · Code to Connect 2026 · decision-support prototype, not investment advice</a:t>
            </a:r>
          </a:p>
        </p:txBody>
      </p:sp>
      <p:sp>
        <p:nvSpPr>
          <p:cNvPr id="29" name="SlideNo"/>
          <p:cNvSpPr txBox="1"/>
          <p:nvPr/>
        </p:nvSpPr>
        <p:spPr>
          <a:xfrm>
            <a:off x="10911535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55B66"/>
                </a:solidFill>
                <a:latin typeface="Calibri"/>
              </a:rPr>
              <a:t>6 /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F2A44"/>
                </a:solidFill>
                <a:latin typeface="Calibri"/>
              </a:rPr>
              <a:t>What is new, what is not, what is next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88720"/>
            <a:ext cx="3566160" cy="3520440"/>
          </a:xfrm>
          <a:prstGeom prst="roundRect">
            <a:avLst>
              <a:gd name="adj" fmla="val 6000"/>
            </a:avLst>
          </a:prstGeom>
          <a:solidFill>
            <a:srgbClr val="EE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0E8A84"/>
                </a:solidFill>
                <a:latin typeface="Calibri"/>
              </a:rPr>
              <a:t>Innovation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3063240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600"/>
              </a:spcAft>
              <a:buClr>
                <a:srgbClr val="0E8A84"/>
              </a:buClr>
              <a:buFont typeface="Arial"/>
              <a:buChar char="•"/>
            </a:pPr>
            <a:r>
              <a:rPr sz="1800" b="0" i="0">
                <a:solidFill>
                  <a:srgbClr val="1A1A1A"/>
                </a:solidFill>
                <a:latin typeface="Calibri"/>
              </a:rPr>
              <a:t>Provenance on every record</a:t>
            </a:r>
          </a:p>
          <a:p>
            <a:pPr marL="274320" indent="-274320">
              <a:spcAft>
                <a:spcPts val="600"/>
              </a:spcAft>
              <a:buClr>
                <a:srgbClr val="0E8A84"/>
              </a:buClr>
              <a:buFont typeface="Arial"/>
              <a:buChar char="•"/>
            </a:pPr>
            <a:r>
              <a:rPr sz="1800" b="0" i="0">
                <a:solidFill>
                  <a:srgbClr val="1A1A1A"/>
                </a:solidFill>
                <a:latin typeface="Calibri"/>
              </a:rPr>
              <a:t>One pipeline for live, replay and demo</a:t>
            </a:r>
          </a:p>
          <a:p>
            <a:pPr marL="274320" indent="-274320">
              <a:spcAft>
                <a:spcPts val="600"/>
              </a:spcAft>
              <a:buClr>
                <a:srgbClr val="0E8A84"/>
              </a:buClr>
              <a:buFont typeface="Arial"/>
              <a:buChar char="•"/>
            </a:pPr>
            <a:r>
              <a:rPr sz="1800" b="0" i="0">
                <a:solidFill>
                  <a:srgbClr val="1A1A1A"/>
                </a:solidFill>
                <a:latin typeface="Calibri"/>
              </a:rPr>
              <a:t>Corroboration escalates severity</a:t>
            </a:r>
          </a:p>
          <a:p>
            <a:pPr marL="274320" indent="-274320">
              <a:spcAft>
                <a:spcPts val="600"/>
              </a:spcAft>
              <a:buClr>
                <a:srgbClr val="0E8A84"/>
              </a:buClr>
              <a:buFont typeface="Arial"/>
              <a:buChar char="•"/>
            </a:pPr>
            <a:r>
              <a:rPr sz="1800" b="0" i="0">
                <a:solidFill>
                  <a:srgbClr val="1A1A1A"/>
                </a:solidFill>
                <a:latin typeface="Calibri"/>
              </a:rPr>
              <a:t>Trigger audit trail with the cause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70248" y="1188720"/>
            <a:ext cx="3566160" cy="3520440"/>
          </a:xfrm>
          <a:prstGeom prst="roundRect">
            <a:avLst>
              <a:gd name="adj" fmla="val 6000"/>
            </a:avLst>
          </a:prstGeom>
          <a:solidFill>
            <a:srgbClr val="EE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44568" y="137160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F2A44"/>
                </a:solidFill>
                <a:latin typeface="Calibri"/>
              </a:rPr>
              <a:t>Limitations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44568" y="1920240"/>
            <a:ext cx="3063240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600"/>
              </a:spcAft>
              <a:buClr>
                <a:srgbClr val="0E8A84"/>
              </a:buClr>
              <a:buFont typeface="Arial"/>
              <a:buChar char="•"/>
            </a:pPr>
            <a:r>
              <a:rPr sz="1800" b="0" i="0">
                <a:solidFill>
                  <a:srgbClr val="1A1A1A"/>
                </a:solidFill>
                <a:latin typeface="Calibri"/>
              </a:rPr>
              <a:t>Weights are uncalibrated priors</a:t>
            </a:r>
          </a:p>
          <a:p>
            <a:pPr marL="274320" indent="-274320">
              <a:spcAft>
                <a:spcPts val="600"/>
              </a:spcAft>
              <a:buClr>
                <a:srgbClr val="0E8A84"/>
              </a:buClr>
              <a:buFont typeface="Arial"/>
              <a:buChar char="•"/>
            </a:pPr>
            <a:r>
              <a:rPr sz="1800" b="0" i="0">
                <a:solidFill>
                  <a:srgbClr val="1A1A1A"/>
                </a:solidFill>
                <a:latin typeface="Calibri"/>
              </a:rPr>
              <a:t>Keyword rules still misfire</a:t>
            </a:r>
          </a:p>
          <a:p>
            <a:pPr marL="274320" indent="-274320">
              <a:spcAft>
                <a:spcPts val="600"/>
              </a:spcAft>
              <a:buClr>
                <a:srgbClr val="0E8A84"/>
              </a:buClr>
              <a:buFont typeface="Arial"/>
              <a:buChar char="•"/>
            </a:pPr>
            <a:r>
              <a:rPr sz="1800" b="0" i="0">
                <a:solidFill>
                  <a:srgbClr val="1A1A1A"/>
                </a:solidFill>
                <a:latin typeface="Calibri"/>
              </a:rPr>
              <a:t>Headline-only news text</a:t>
            </a:r>
          </a:p>
          <a:p>
            <a:pPr marL="274320" indent="-274320">
              <a:spcAft>
                <a:spcPts val="600"/>
              </a:spcAft>
              <a:buClr>
                <a:srgbClr val="0E8A84"/>
              </a:buClr>
              <a:buFont typeface="Arial"/>
              <a:buChar char="•"/>
            </a:pPr>
            <a:r>
              <a:rPr sz="1800" b="0" i="0">
                <a:solidFill>
                  <a:srgbClr val="1A1A1A"/>
                </a:solidFill>
                <a:latin typeface="Calibri"/>
              </a:rPr>
              <a:t>Small AI-labelled eval set</a:t>
            </a:r>
          </a:p>
          <a:p>
            <a:pPr marL="274320" indent="-274320">
              <a:spcAft>
                <a:spcPts val="600"/>
              </a:spcAft>
              <a:buClr>
                <a:srgbClr val="0E8A84"/>
              </a:buClr>
              <a:buFont typeface="Arial"/>
              <a:buChar char="•"/>
            </a:pPr>
            <a:r>
              <a:rPr sz="1800" b="0" i="0">
                <a:solidFill>
                  <a:srgbClr val="1A1A1A"/>
                </a:solidFill>
                <a:latin typeface="Calibri"/>
              </a:rPr>
              <a:t>Illustrative stress model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91856" y="1188720"/>
            <a:ext cx="3566160" cy="3520440"/>
          </a:xfrm>
          <a:prstGeom prst="roundRect">
            <a:avLst>
              <a:gd name="adj" fmla="val 6000"/>
            </a:avLst>
          </a:prstGeom>
          <a:solidFill>
            <a:srgbClr val="EE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66176" y="137160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0E8A84"/>
                </a:solidFill>
                <a:latin typeface="Calibri"/>
              </a:rPr>
              <a:t>Next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66176" y="1920240"/>
            <a:ext cx="3063240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600"/>
              </a:spcAft>
              <a:buClr>
                <a:srgbClr val="0E8A84"/>
              </a:buClr>
              <a:buFont typeface="Arial"/>
              <a:buChar char="•"/>
            </a:pPr>
            <a:r>
              <a:rPr sz="1800" b="0" i="0">
                <a:solidFill>
                  <a:srgbClr val="1A1A1A"/>
                </a:solidFill>
                <a:latin typeface="Calibri"/>
              </a:rPr>
              <a:t>Kafka streaming</a:t>
            </a:r>
          </a:p>
          <a:p>
            <a:pPr marL="274320" indent="-274320">
              <a:spcAft>
                <a:spcPts val="600"/>
              </a:spcAft>
              <a:buClr>
                <a:srgbClr val="0E8A84"/>
              </a:buClr>
              <a:buFont typeface="Arial"/>
              <a:buChar char="•"/>
            </a:pPr>
            <a:r>
              <a:rPr sz="1800" b="0" i="0">
                <a:solidFill>
                  <a:srgbClr val="1A1A1A"/>
                </a:solidFill>
                <a:latin typeface="Calibri"/>
              </a:rPr>
              <a:t>Calibrate impact on market moves</a:t>
            </a:r>
          </a:p>
          <a:p>
            <a:pPr marL="274320" indent="-274320">
              <a:spcAft>
                <a:spcPts val="600"/>
              </a:spcAft>
              <a:buClr>
                <a:srgbClr val="0E8A84"/>
              </a:buClr>
              <a:buFont typeface="Arial"/>
              <a:buChar char="•"/>
            </a:pPr>
            <a:r>
              <a:rPr sz="1800" b="0" i="0">
                <a:solidFill>
                  <a:srgbClr val="1A1A1A"/>
                </a:solidFill>
                <a:latin typeface="Calibri"/>
              </a:rPr>
              <a:t>Licensed full-text news</a:t>
            </a:r>
          </a:p>
          <a:p>
            <a:pPr marL="274320" indent="-274320">
              <a:spcAft>
                <a:spcPts val="600"/>
              </a:spcAft>
              <a:buClr>
                <a:srgbClr val="0E8A84"/>
              </a:buClr>
              <a:buFont typeface="Arial"/>
              <a:buChar char="•"/>
            </a:pPr>
            <a:r>
              <a:rPr sz="1800" b="0" i="0">
                <a:solidFill>
                  <a:srgbClr val="1A1A1A"/>
                </a:solidFill>
                <a:latin typeface="Calibri"/>
              </a:rPr>
              <a:t>Backtesting, full revaluation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983480"/>
            <a:ext cx="11094415" cy="1097280"/>
          </a:xfrm>
          <a:prstGeom prst="roundRect">
            <a:avLst>
              <a:gd name="adj" fmla="val 6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983480"/>
            <a:ext cx="1036289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An honest, explainable bridge from text to portfolio risk that runs offline on a laptop.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Calibri"/>
              </a:rPr>
              <a:t>Risk Signal Engine · Code to Connect 2026 · decision-support prototype, not investment advice</a:t>
            </a:r>
          </a:p>
        </p:txBody>
      </p:sp>
      <p:sp>
        <p:nvSpPr>
          <p:cNvPr id="15" name="SlideNo"/>
          <p:cNvSpPr txBox="1"/>
          <p:nvPr/>
        </p:nvSpPr>
        <p:spPr>
          <a:xfrm>
            <a:off x="10911535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55B66"/>
                </a:solidFill>
                <a:latin typeface="Calibri"/>
              </a:rPr>
              <a:t>7 /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