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Hello, I am Apeksha Jain from ABV-IIITM Gwalior. This is Risk Signal Engine, my individual submission for Module B, strategic portfolio stress testing. In one sentence: it reads news and social posts, turns each item into an explainable risk signal, and stress-tests the portfolio the moment something material happens. Every number I show comes from a script in the repository, or is labelled simulated.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Credit risk shows up in text before it shows up in prices or ratings data: downgrades, regulatory probes, sanctions, rate surprises. Today an analyst reads the headline, decides whether it matters, and someone runs a stress test later, by hand. Nothing links the headline to the book's exposure in the moment. My approach: an NLP engine scores every item for sentiment, event type and a 1-to-10 impact, and an event-driven stress engine reprices the portfolio when a rule fires. The only speed claim I make is the measured one: a median of 204.7 milliseconds per document on a CPU laptop.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Left to right. Real sources, Google News, Reddit and Mastodon, are used only because they passed our probe script; the others are skipped cleanly, and no adapter can crash the app. Everything, live, replayed, scripted or sent to the API, goes through one pipeline: cleaning and deduplication, entity resolution, FinBERT sentiment, event rules with evidence, and the impact score. Signals are stored and published on an event bus; the stress engine is a subscriber, and the FastAPI service and the Streamlit dashboard sit on top. Every record carries a provenance badge, and after a one-time model download the whole system runs offline.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Three highlights. First, explainability: every score is decomposed. The impact formula is on the slide with the published weights: event severity, sentiment magnitude, exposure and source credibility, scaled by confidence. They are expert priors, not calibrated, and the dashboard says so. Second, the stress engine: news-only triggers, systemic or issuer-specific, with cooldown and corroboration, and simple pricers for bonds, loans, swaps, CDS, FX and equity. Third, credit views: an early-warning watchlist, propagation over curated links, a one-click credit brief, and a time machine over the real captured history.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 Results, with n for every number. On 147 headlines and posts, FinBERT sentiment accuracy is 0.653, event classification 0.81, entity resolution 0.898. These labels were drafted by an AI assistant and are pending human review, so treat them as a smoke test. Median latency is 204.7 ms per document, p95 1085.2 ms, over 200 documents. Replaying 911 real captured documents, my false-trigger fixes cut simulated stress runs from 84 to 50. In the scripted demo, a Tata Motors downgrade gives 0.41% GREEN thanks to a CDS hedge; an invasion headline gives 1.32% AMBER; a second source corroborates it: 2.45% RED. These losses are simulated on a synthetic portfolio with an illustrative model, not investment advice.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Who uses it. Credit analysts see which held names need attention and exactly which rule fired. Risk managers get an audited, simulated portfolio view when news breaks, instead of waiting for the next scheduled run. Portfolio managers see linked exposure and test their own shocks with the what-if sliders. I make no ROI or time-saved claim. The value is earlier attention, triage by materiality with the reason shown, and an audit trail from every stress run back to the headline that triggered it. Linked exposure is an attention measure, not a contagion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Honest limitations: the impact weights are uncalibrated priors, keyword rules still misfire on some real headlines, news is headline-only, the evaluation set is small and AI-labelled, and the stress model is illustrative on a synthetic portfolio. Next: calibrate impact on market moves, licensed full-text news, fine-tuned models from the ready training notebook, streaming and backtesting. What already works: provenance on every record, one pipeline for every input, and an offline demo on a laptop. Thank you, I am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3840480"/>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43000"/>
            <a:ext cx="10972800" cy="914400"/>
          </a:xfrm>
          <a:prstGeom prst="rect">
            <a:avLst/>
          </a:prstGeom>
          <a:noFill/>
        </p:spPr>
        <p:txBody>
          <a:bodyPr wrap="square" anchor="t" lIns="0" rIns="0" tIns="0" bIns="0">
            <a:spAutoFit/>
          </a:bodyPr>
          <a:lstStyle/>
          <a:p>
            <a:pPr algn="l"/>
            <a:r>
              <a:rPr sz="5400" b="1" i="0">
                <a:solidFill>
                  <a:srgbClr val="FFFFFF"/>
                </a:solidFill>
                <a:latin typeface="Calibri"/>
              </a:rPr>
              <a:t>Risk Signal Engine</a:t>
            </a:r>
          </a:p>
        </p:txBody>
      </p:sp>
      <p:sp>
        <p:nvSpPr>
          <p:cNvPr id="4" name="TextBox 3"/>
          <p:cNvSpPr txBox="1"/>
          <p:nvPr/>
        </p:nvSpPr>
        <p:spPr>
          <a:xfrm>
            <a:off x="548640" y="2148840"/>
            <a:ext cx="10972800" cy="640080"/>
          </a:xfrm>
          <a:prstGeom prst="rect">
            <a:avLst/>
          </a:prstGeom>
          <a:noFill/>
        </p:spPr>
        <p:txBody>
          <a:bodyPr wrap="square" anchor="t" lIns="0" rIns="0" tIns="0" bIns="0">
            <a:spAutoFit/>
          </a:bodyPr>
          <a:lstStyle/>
          <a:p>
            <a:pPr algn="l"/>
            <a:r>
              <a:rPr sz="2400" b="0" i="0">
                <a:solidFill>
                  <a:srgbClr val="FFFFFF"/>
                </a:solidFill>
                <a:latin typeface="Calibri"/>
              </a:rPr>
              <a:t>From breaking news and social posts to explainable risk signals and a portfolio stress test</a:t>
            </a:r>
          </a:p>
        </p:txBody>
      </p:sp>
      <p:sp>
        <p:nvSpPr>
          <p:cNvPr id="5" name="TextBox 4"/>
          <p:cNvSpPr txBox="1"/>
          <p:nvPr/>
        </p:nvSpPr>
        <p:spPr>
          <a:xfrm>
            <a:off x="548640" y="2880360"/>
            <a:ext cx="10972800" cy="457200"/>
          </a:xfrm>
          <a:prstGeom prst="rect">
            <a:avLst/>
          </a:prstGeom>
          <a:noFill/>
        </p:spPr>
        <p:txBody>
          <a:bodyPr wrap="square" anchor="t" lIns="0" rIns="0" tIns="0" bIns="0">
            <a:spAutoFit/>
          </a:bodyPr>
          <a:lstStyle/>
          <a:p>
            <a:pPr algn="l"/>
            <a:r>
              <a:rPr sz="1800" b="0" i="0">
                <a:solidFill>
                  <a:srgbClr val="FFFFFF"/>
                </a:solidFill>
                <a:latin typeface="Calibri"/>
              </a:rPr>
              <a:t>S&amp;P Global × CRISIL · Code to Connect 2026 · Module B: Strategic Portfolio Stress Testing</a:t>
            </a:r>
          </a:p>
        </p:txBody>
      </p:sp>
      <p:sp>
        <p:nvSpPr>
          <p:cNvPr id="6" name="TextBox 5"/>
          <p:cNvSpPr txBox="1"/>
          <p:nvPr/>
        </p:nvSpPr>
        <p:spPr>
          <a:xfrm>
            <a:off x="548640" y="4343400"/>
            <a:ext cx="3474720" cy="731520"/>
          </a:xfrm>
          <a:prstGeom prst="rect">
            <a:avLst/>
          </a:prstGeom>
          <a:noFill/>
        </p:spPr>
        <p:txBody>
          <a:bodyPr wrap="square" anchor="t" lIns="0" rIns="0" tIns="0" bIns="0">
            <a:spAutoFit/>
          </a:bodyPr>
          <a:lstStyle/>
          <a:p>
            <a:pPr algn="l"/>
            <a:r>
              <a:rPr sz="3600" b="1" i="0">
                <a:solidFill>
                  <a:srgbClr val="0E8A84"/>
                </a:solidFill>
                <a:latin typeface="Calibri"/>
              </a:rPr>
              <a:t>1,325</a:t>
            </a:r>
          </a:p>
        </p:txBody>
      </p:sp>
      <p:sp>
        <p:nvSpPr>
          <p:cNvPr id="7" name="TextBox 6"/>
          <p:cNvSpPr txBox="1"/>
          <p:nvPr/>
        </p:nvSpPr>
        <p:spPr>
          <a:xfrm>
            <a:off x="548640" y="5029200"/>
            <a:ext cx="3474720" cy="548640"/>
          </a:xfrm>
          <a:prstGeom prst="rect">
            <a:avLst/>
          </a:prstGeom>
          <a:noFill/>
        </p:spPr>
        <p:txBody>
          <a:bodyPr wrap="square" anchor="t" lIns="0" rIns="0" tIns="0" bIns="0">
            <a:spAutoFit/>
          </a:bodyPr>
          <a:lstStyle/>
          <a:p>
            <a:pPr algn="l"/>
            <a:r>
              <a:rPr sz="1800" b="0" i="0">
                <a:solidFill>
                  <a:srgbClr val="1A1A1A"/>
                </a:solidFill>
                <a:latin typeface="Calibri"/>
              </a:rPr>
              <a:t>real captured headlines and posts</a:t>
            </a:r>
          </a:p>
        </p:txBody>
      </p:sp>
      <p:sp>
        <p:nvSpPr>
          <p:cNvPr id="8" name="TextBox 7"/>
          <p:cNvSpPr txBox="1"/>
          <p:nvPr/>
        </p:nvSpPr>
        <p:spPr>
          <a:xfrm>
            <a:off x="4297679" y="4343400"/>
            <a:ext cx="3474720" cy="731520"/>
          </a:xfrm>
          <a:prstGeom prst="rect">
            <a:avLst/>
          </a:prstGeom>
          <a:noFill/>
        </p:spPr>
        <p:txBody>
          <a:bodyPr wrap="square" anchor="t" lIns="0" rIns="0" tIns="0" bIns="0">
            <a:spAutoFit/>
          </a:bodyPr>
          <a:lstStyle/>
          <a:p>
            <a:pPr algn="l"/>
            <a:r>
              <a:rPr sz="3600" b="1" i="0">
                <a:solidFill>
                  <a:srgbClr val="0E8A84"/>
                </a:solidFill>
                <a:latin typeface="Calibri"/>
              </a:rPr>
              <a:t>1–10</a:t>
            </a:r>
          </a:p>
        </p:txBody>
      </p:sp>
      <p:sp>
        <p:nvSpPr>
          <p:cNvPr id="9" name="TextBox 8"/>
          <p:cNvSpPr txBox="1"/>
          <p:nvPr/>
        </p:nvSpPr>
        <p:spPr>
          <a:xfrm>
            <a:off x="4297679" y="5029200"/>
            <a:ext cx="3474720" cy="548640"/>
          </a:xfrm>
          <a:prstGeom prst="rect">
            <a:avLst/>
          </a:prstGeom>
          <a:noFill/>
        </p:spPr>
        <p:txBody>
          <a:bodyPr wrap="square" anchor="t" lIns="0" rIns="0" tIns="0" bIns="0">
            <a:spAutoFit/>
          </a:bodyPr>
          <a:lstStyle/>
          <a:p>
            <a:pPr algn="l"/>
            <a:r>
              <a:rPr sz="1800" b="0" i="0">
                <a:solidFill>
                  <a:srgbClr val="1A1A1A"/>
                </a:solidFill>
                <a:latin typeface="Calibri"/>
              </a:rPr>
              <a:t>explainable impact score</a:t>
            </a:r>
          </a:p>
        </p:txBody>
      </p:sp>
      <p:sp>
        <p:nvSpPr>
          <p:cNvPr id="10" name="TextBox 9"/>
          <p:cNvSpPr txBox="1"/>
          <p:nvPr/>
        </p:nvSpPr>
        <p:spPr>
          <a:xfrm>
            <a:off x="8046718" y="4343400"/>
            <a:ext cx="3474720" cy="731520"/>
          </a:xfrm>
          <a:prstGeom prst="rect">
            <a:avLst/>
          </a:prstGeom>
          <a:noFill/>
        </p:spPr>
        <p:txBody>
          <a:bodyPr wrap="square" anchor="t" lIns="0" rIns="0" tIns="0" bIns="0">
            <a:spAutoFit/>
          </a:bodyPr>
          <a:lstStyle/>
          <a:p>
            <a:pPr algn="l"/>
            <a:r>
              <a:rPr sz="3600" b="1" i="0">
                <a:solidFill>
                  <a:srgbClr val="0E8A84"/>
                </a:solidFill>
                <a:latin typeface="Calibri"/>
              </a:rPr>
              <a:t>seconds</a:t>
            </a:r>
          </a:p>
        </p:txBody>
      </p:sp>
      <p:sp>
        <p:nvSpPr>
          <p:cNvPr id="11" name="TextBox 10"/>
          <p:cNvSpPr txBox="1"/>
          <p:nvPr/>
        </p:nvSpPr>
        <p:spPr>
          <a:xfrm>
            <a:off x="8046718" y="5029200"/>
            <a:ext cx="3474720" cy="548640"/>
          </a:xfrm>
          <a:prstGeom prst="rect">
            <a:avLst/>
          </a:prstGeom>
          <a:noFill/>
        </p:spPr>
        <p:txBody>
          <a:bodyPr wrap="square" anchor="t" lIns="0" rIns="0" tIns="0" bIns="0">
            <a:spAutoFit/>
          </a:bodyPr>
          <a:lstStyle/>
          <a:p>
            <a:pPr algn="l"/>
            <a:r>
              <a:rPr sz="1800" b="0" i="0">
                <a:solidFill>
                  <a:srgbClr val="1A1A1A"/>
                </a:solidFill>
                <a:latin typeface="Calibri"/>
              </a:rPr>
              <a:t>from headline to portfolio view</a:t>
            </a:r>
          </a:p>
        </p:txBody>
      </p:sp>
      <p:sp>
        <p:nvSpPr>
          <p:cNvPr id="12" name="TextBox 11"/>
          <p:cNvSpPr txBox="1"/>
          <p:nvPr/>
        </p:nvSpPr>
        <p:spPr>
          <a:xfrm>
            <a:off x="548640" y="5806440"/>
            <a:ext cx="10972800" cy="365760"/>
          </a:xfrm>
          <a:prstGeom prst="rect">
            <a:avLst/>
          </a:prstGeom>
          <a:noFill/>
        </p:spPr>
        <p:txBody>
          <a:bodyPr wrap="square" anchor="t" lIns="0" rIns="0" tIns="0" bIns="0">
            <a:spAutoFit/>
          </a:bodyPr>
          <a:lstStyle/>
          <a:p>
            <a:pPr algn="l"/>
            <a:r>
              <a:rPr sz="1800" b="0" i="0">
                <a:solidFill>
                  <a:srgbClr val="555B66"/>
                </a:solidFill>
                <a:latin typeface="Calibri"/>
              </a:rPr>
              <a:t>Apeksha Jain · ABV-IIITM Gwalior · individual submission · decision support, not investment advice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411480"/>
            <a:ext cx="11094415" cy="685800"/>
          </a:xfrm>
          <a:prstGeom prst="rect">
            <a:avLst/>
          </a:prstGeom>
          <a:noFill/>
        </p:spPr>
        <p:txBody>
          <a:bodyPr wrap="square" anchor="t" lIns="0" rIns="0" tIns="0" bIns="0">
            <a:spAutoFit/>
          </a:bodyPr>
          <a:lstStyle/>
          <a:p>
            <a:pPr algn="l"/>
            <a:r>
              <a:rPr sz="3600" b="1" i="0">
                <a:solidFill>
                  <a:srgbClr val="1F2A44"/>
                </a:solidFill>
                <a:latin typeface="Calibri"/>
              </a:rPr>
              <a:t>Problem and approach</a:t>
            </a:r>
          </a:p>
        </p:txBody>
      </p:sp>
      <p:sp>
        <p:nvSpPr>
          <p:cNvPr id="3" name="Subtitle"/>
          <p:cNvSpPr txBox="1"/>
          <p:nvPr/>
        </p:nvSpPr>
        <p:spPr>
          <a:xfrm>
            <a:off x="548640" y="1051560"/>
            <a:ext cx="11094415" cy="365760"/>
          </a:xfrm>
          <a:prstGeom prst="rect">
            <a:avLst/>
          </a:prstGeom>
          <a:noFill/>
        </p:spPr>
        <p:txBody>
          <a:bodyPr wrap="square" anchor="t" lIns="0" rIns="0" tIns="0" bIns="0">
            <a:spAutoFit/>
          </a:bodyPr>
          <a:lstStyle/>
          <a:p>
            <a:pPr algn="l"/>
            <a:r>
              <a:rPr sz="1800" b="0" i="0">
                <a:solidFill>
                  <a:srgbClr val="0E8A84"/>
                </a:solidFill>
                <a:latin typeface="Calibri"/>
              </a:rPr>
              <a:t>Risk shows up in text before it shows up in data</a:t>
            </a:r>
          </a:p>
        </p:txBody>
      </p:sp>
      <p:sp>
        <p:nvSpPr>
          <p:cNvPr id="4" name="TextBox 3"/>
          <p:cNvSpPr txBox="1"/>
          <p:nvPr/>
        </p:nvSpPr>
        <p:spPr>
          <a:xfrm>
            <a:off x="548640" y="1508760"/>
            <a:ext cx="5120640" cy="4389120"/>
          </a:xfrm>
          <a:prstGeom prst="rect">
            <a:avLst/>
          </a:prstGeom>
          <a:noFill/>
        </p:spPr>
        <p:txBody>
          <a:bodyPr wrap="square" lIns="0" rIns="0" tIns="0" bIns="0">
            <a:spAutoFit/>
          </a:bodyPr>
          <a:lstStyle/>
          <a:p>
            <a:pPr marL="274320" indent="-274320">
              <a:spcAft>
                <a:spcPts val="1000"/>
              </a:spcAft>
              <a:buClr>
                <a:srgbClr val="0E8A84"/>
              </a:buClr>
              <a:buFont typeface="Arial"/>
              <a:buChar char="•"/>
            </a:pPr>
            <a:r>
              <a:rPr sz="1900" b="0" i="0">
                <a:solidFill>
                  <a:srgbClr val="1A1A1A"/>
                </a:solidFill>
                <a:latin typeface="Calibri"/>
              </a:rPr>
              <a:t>Downgrades, probes, sanctions and rate moves break as headlines and posts</a:t>
            </a:r>
          </a:p>
          <a:p>
            <a:pPr marL="274320" indent="-274320">
              <a:spcAft>
                <a:spcPts val="1000"/>
              </a:spcAft>
              <a:buClr>
                <a:srgbClr val="0E8A84"/>
              </a:buClr>
              <a:buFont typeface="Arial"/>
              <a:buChar char="•"/>
            </a:pPr>
            <a:r>
              <a:rPr sz="1900" b="0" i="0">
                <a:solidFill>
                  <a:srgbClr val="1A1A1A"/>
                </a:solidFill>
                <a:latin typeface="Calibri"/>
              </a:rPr>
              <a:t>Credit analysts and risk teams triage them by hand: slow, noisy, duplicated</a:t>
            </a:r>
          </a:p>
          <a:p>
            <a:pPr marL="274320" indent="-274320">
              <a:spcAft>
                <a:spcPts val="1000"/>
              </a:spcAft>
              <a:buClr>
                <a:srgbClr val="0E8A84"/>
              </a:buClr>
              <a:buFont typeface="Arial"/>
              <a:buChar char="•"/>
            </a:pPr>
            <a:r>
              <a:rPr sz="1900" b="0" i="0">
                <a:solidFill>
                  <a:srgbClr val="1A1A1A"/>
                </a:solidFill>
                <a:latin typeface="Calibri"/>
              </a:rPr>
              <a:t>Nothing links a headline to the book's exposure until someone runs numbers</a:t>
            </a:r>
          </a:p>
          <a:p>
            <a:pPr marL="274320" indent="-274320">
              <a:spcAft>
                <a:spcPts val="1000"/>
              </a:spcAft>
              <a:buClr>
                <a:srgbClr val="0E8A84"/>
              </a:buClr>
              <a:buFont typeface="Arial"/>
              <a:buChar char="•"/>
            </a:pPr>
            <a:r>
              <a:rPr sz="1900" b="1" i="0">
                <a:solidFill>
                  <a:srgbClr val="1A1A1A"/>
                </a:solidFill>
                <a:latin typeface="Calibri"/>
              </a:rPr>
              <a:t>Approach: </a:t>
            </a:r>
            <a:r>
              <a:rPr sz="1900" b="0" i="0">
                <a:solidFill>
                  <a:srgbClr val="1A1A1A"/>
                </a:solidFill>
                <a:latin typeface="Calibri"/>
              </a:rPr>
              <a:t>an NLP risk engine scores every item (sentiment, event, impact) and an event-driven stress engine reprices the book</a:t>
            </a:r>
          </a:p>
        </p:txBody>
      </p:sp>
      <p:sp>
        <p:nvSpPr>
          <p:cNvPr id="5" name="TextBox 4"/>
          <p:cNvSpPr txBox="1"/>
          <p:nvPr/>
        </p:nvSpPr>
        <p:spPr>
          <a:xfrm>
            <a:off x="6126480" y="1691640"/>
            <a:ext cx="5486400" cy="365760"/>
          </a:xfrm>
          <a:prstGeom prst="rect">
            <a:avLst/>
          </a:prstGeom>
          <a:noFill/>
        </p:spPr>
        <p:txBody>
          <a:bodyPr wrap="square" anchor="t" lIns="0" rIns="0" tIns="0" bIns="0">
            <a:spAutoFit/>
          </a:bodyPr>
          <a:lstStyle/>
          <a:p>
            <a:pPr algn="l"/>
            <a:r>
              <a:rPr sz="2000" b="1" i="0">
                <a:solidFill>
                  <a:srgbClr val="555B66"/>
                </a:solidFill>
                <a:latin typeface="Calibri"/>
              </a:rPr>
              <a:t>Today</a:t>
            </a:r>
          </a:p>
        </p:txBody>
      </p:sp>
      <p:sp>
        <p:nvSpPr>
          <p:cNvPr id="6" name="Rounded Rectangle 5"/>
          <p:cNvSpPr/>
          <p:nvPr/>
        </p:nvSpPr>
        <p:spPr>
          <a:xfrm>
            <a:off x="6126480" y="2194560"/>
            <a:ext cx="1627632" cy="914400"/>
          </a:xfrm>
          <a:prstGeom prst="roundRect">
            <a:avLst>
              <a:gd name="adj" fmla="val 6000"/>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1F2A44"/>
                </a:solidFill>
                <a:latin typeface="Calibri"/>
              </a:rPr>
              <a:t>Headline breaks</a:t>
            </a:r>
          </a:p>
        </p:txBody>
      </p:sp>
      <p:cxnSp>
        <p:nvCxnSpPr>
          <p:cNvPr id="7" name="Connector 6"/>
          <p:cNvCxnSpPr/>
          <p:nvPr/>
        </p:nvCxnSpPr>
        <p:spPr>
          <a:xfrm>
            <a:off x="7781544" y="2651760"/>
            <a:ext cx="274320" cy="0"/>
          </a:xfrm>
          <a:prstGeom prst="line">
            <a:avLst/>
          </a:prstGeom>
          <a:ln w="31750">
            <a:solidFill>
              <a:srgbClr val="555B66"/>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083296" y="2194560"/>
            <a:ext cx="1627632" cy="914400"/>
          </a:xfrm>
          <a:prstGeom prst="roundRect">
            <a:avLst>
              <a:gd name="adj" fmla="val 6000"/>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1F2A44"/>
                </a:solidFill>
                <a:latin typeface="Calibri"/>
              </a:rPr>
              <a:t>Analyst reads it</a:t>
            </a:r>
          </a:p>
        </p:txBody>
      </p:sp>
      <p:cxnSp>
        <p:nvCxnSpPr>
          <p:cNvPr id="9" name="Connector 8"/>
          <p:cNvCxnSpPr/>
          <p:nvPr/>
        </p:nvCxnSpPr>
        <p:spPr>
          <a:xfrm>
            <a:off x="9738360" y="2651760"/>
            <a:ext cx="274320" cy="0"/>
          </a:xfrm>
          <a:prstGeom prst="line">
            <a:avLst/>
          </a:prstGeom>
          <a:ln w="31750">
            <a:solidFill>
              <a:srgbClr val="555B66"/>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0040112" y="2194560"/>
            <a:ext cx="1627632" cy="914400"/>
          </a:xfrm>
          <a:prstGeom prst="roundRect">
            <a:avLst>
              <a:gd name="adj" fmla="val 6000"/>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1F2A44"/>
                </a:solidFill>
                <a:latin typeface="Calibri"/>
              </a:rPr>
              <a:t>Manual stress run, later</a:t>
            </a:r>
          </a:p>
        </p:txBody>
      </p:sp>
      <p:sp>
        <p:nvSpPr>
          <p:cNvPr id="11" name="TextBox 10"/>
          <p:cNvSpPr txBox="1"/>
          <p:nvPr/>
        </p:nvSpPr>
        <p:spPr>
          <a:xfrm>
            <a:off x="6126480" y="3749040"/>
            <a:ext cx="5486400" cy="365760"/>
          </a:xfrm>
          <a:prstGeom prst="rect">
            <a:avLst/>
          </a:prstGeom>
          <a:noFill/>
        </p:spPr>
        <p:txBody>
          <a:bodyPr wrap="square" anchor="t" lIns="0" rIns="0" tIns="0" bIns="0">
            <a:spAutoFit/>
          </a:bodyPr>
          <a:lstStyle/>
          <a:p>
            <a:pPr algn="l"/>
            <a:r>
              <a:rPr sz="2000" b="1" i="0">
                <a:solidFill>
                  <a:srgbClr val="0E8A84"/>
                </a:solidFill>
                <a:latin typeface="Calibri"/>
              </a:rPr>
              <a:t>With the engine</a:t>
            </a:r>
          </a:p>
        </p:txBody>
      </p:sp>
      <p:sp>
        <p:nvSpPr>
          <p:cNvPr id="12" name="Rounded Rectangle 11"/>
          <p:cNvSpPr/>
          <p:nvPr/>
        </p:nvSpPr>
        <p:spPr>
          <a:xfrm>
            <a:off x="6126480" y="4251960"/>
            <a:ext cx="1627632" cy="914400"/>
          </a:xfrm>
          <a:prstGeom prst="roundRect">
            <a:avLst>
              <a:gd name="adj" fmla="val 6000"/>
            </a:avLst>
          </a:prstGeom>
          <a:solidFill>
            <a:srgbClr val="0E8A8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Calibri"/>
              </a:rPr>
              <a:t>Headline ingested</a:t>
            </a:r>
          </a:p>
        </p:txBody>
      </p:sp>
      <p:cxnSp>
        <p:nvCxnSpPr>
          <p:cNvPr id="13" name="Connector 12"/>
          <p:cNvCxnSpPr/>
          <p:nvPr/>
        </p:nvCxnSpPr>
        <p:spPr>
          <a:xfrm>
            <a:off x="7781544" y="4709160"/>
            <a:ext cx="274320" cy="0"/>
          </a:xfrm>
          <a:prstGeom prst="line">
            <a:avLst/>
          </a:prstGeom>
          <a:ln w="31750">
            <a:solidFill>
              <a:srgbClr val="0E8A84"/>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083296" y="4251960"/>
            <a:ext cx="1627632" cy="914400"/>
          </a:xfrm>
          <a:prstGeom prst="roundRect">
            <a:avLst>
              <a:gd name="adj" fmla="val 6000"/>
            </a:avLst>
          </a:prstGeom>
          <a:solidFill>
            <a:srgbClr val="0E8A8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Calibri"/>
              </a:rPr>
              <a:t>Scored + explained</a:t>
            </a:r>
          </a:p>
        </p:txBody>
      </p:sp>
      <p:cxnSp>
        <p:nvCxnSpPr>
          <p:cNvPr id="15" name="Connector 14"/>
          <p:cNvCxnSpPr/>
          <p:nvPr/>
        </p:nvCxnSpPr>
        <p:spPr>
          <a:xfrm>
            <a:off x="9738360" y="4709160"/>
            <a:ext cx="274320" cy="0"/>
          </a:xfrm>
          <a:prstGeom prst="line">
            <a:avLst/>
          </a:prstGeom>
          <a:ln w="31750">
            <a:solidFill>
              <a:srgbClr val="0E8A84"/>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0040112" y="4251960"/>
            <a:ext cx="1627632" cy="914400"/>
          </a:xfrm>
          <a:prstGeom prst="roundRect">
            <a:avLst>
              <a:gd name="adj" fmla="val 6000"/>
            </a:avLst>
          </a:prstGeom>
          <a:solidFill>
            <a:srgbClr val="0E8A8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Calibri"/>
              </a:rPr>
              <a:t>Stress test triggered</a:t>
            </a:r>
          </a:p>
        </p:txBody>
      </p:sp>
      <p:sp>
        <p:nvSpPr>
          <p:cNvPr id="17" name="TextBox 16"/>
          <p:cNvSpPr txBox="1"/>
          <p:nvPr/>
        </p:nvSpPr>
        <p:spPr>
          <a:xfrm>
            <a:off x="6126480" y="5440680"/>
            <a:ext cx="5486400" cy="320040"/>
          </a:xfrm>
          <a:prstGeom prst="rect">
            <a:avLst/>
          </a:prstGeom>
          <a:noFill/>
        </p:spPr>
        <p:txBody>
          <a:bodyPr wrap="square" anchor="t" lIns="0" rIns="0" tIns="0" bIns="0">
            <a:spAutoFit/>
          </a:bodyPr>
          <a:lstStyle/>
          <a:p>
            <a:pPr algn="l"/>
            <a:r>
              <a:rPr sz="1800" b="0" i="1">
                <a:solidFill>
                  <a:srgbClr val="555B66"/>
                </a:solidFill>
                <a:latin typeface="Calibri"/>
              </a:rPr>
              <a:t>Measured: median 204.7 ms per document (n = 200)</a:t>
            </a:r>
          </a:p>
        </p:txBody>
      </p:sp>
      <p:sp>
        <p:nvSpPr>
          <p:cNvPr id="18" name="Footer"/>
          <p:cNvSpPr txBox="1"/>
          <p:nvPr/>
        </p:nvSpPr>
        <p:spPr>
          <a:xfrm>
            <a:off x="548640" y="6446520"/>
            <a:ext cx="8686800" cy="274320"/>
          </a:xfrm>
          <a:prstGeom prst="rect">
            <a:avLst/>
          </a:prstGeom>
          <a:noFill/>
        </p:spPr>
        <p:txBody>
          <a:bodyPr wrap="square" anchor="t" lIns="0" rIns="0" tIns="0" bIns="0">
            <a:spAutoFit/>
          </a:bodyPr>
          <a:lstStyle/>
          <a:p>
            <a:pPr algn="l"/>
            <a:r>
              <a:rPr sz="1800" b="0" i="0">
                <a:solidFill>
                  <a:srgbClr val="555B66"/>
                </a:solidFill>
                <a:latin typeface="Calibri"/>
              </a:rPr>
              <a:t>Risk Signal Engine · decision support, not investment advice</a:t>
            </a:r>
          </a:p>
        </p:txBody>
      </p:sp>
      <p:sp>
        <p:nvSpPr>
          <p:cNvPr id="19" name="SlideNo"/>
          <p:cNvSpPr txBox="1"/>
          <p:nvPr/>
        </p:nvSpPr>
        <p:spPr>
          <a:xfrm>
            <a:off x="10911535" y="6446520"/>
            <a:ext cx="731520" cy="274320"/>
          </a:xfrm>
          <a:prstGeom prst="rect">
            <a:avLst/>
          </a:prstGeom>
          <a:noFill/>
        </p:spPr>
        <p:txBody>
          <a:bodyPr wrap="square" anchor="t" lIns="0" rIns="0" tIns="0" bIns="0">
            <a:spAutoFit/>
          </a:bodyPr>
          <a:lstStyle/>
          <a:p>
            <a:pPr algn="r"/>
            <a:r>
              <a:rPr sz="1800" b="0" i="0">
                <a:solidFill>
                  <a:srgbClr val="555B66"/>
                </a:solidFill>
                <a:latin typeface="Calibri"/>
              </a:rPr>
              <a:t>2 /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411480"/>
            <a:ext cx="11094415" cy="685800"/>
          </a:xfrm>
          <a:prstGeom prst="rect">
            <a:avLst/>
          </a:prstGeom>
          <a:noFill/>
        </p:spPr>
        <p:txBody>
          <a:bodyPr wrap="square" anchor="t" lIns="0" rIns="0" tIns="0" bIns="0">
            <a:spAutoFit/>
          </a:bodyPr>
          <a:lstStyle/>
          <a:p>
            <a:pPr algn="l"/>
            <a:r>
              <a:rPr sz="3600" b="1" i="0">
                <a:solidFill>
                  <a:srgbClr val="1F2A44"/>
                </a:solidFill>
                <a:latin typeface="Calibri"/>
              </a:rPr>
              <a:t>System design</a:t>
            </a:r>
          </a:p>
        </p:txBody>
      </p:sp>
      <p:sp>
        <p:nvSpPr>
          <p:cNvPr id="3" name="Subtitle"/>
          <p:cNvSpPr txBox="1"/>
          <p:nvPr/>
        </p:nvSpPr>
        <p:spPr>
          <a:xfrm>
            <a:off x="548640" y="1051560"/>
            <a:ext cx="11094415" cy="365760"/>
          </a:xfrm>
          <a:prstGeom prst="rect">
            <a:avLst/>
          </a:prstGeom>
          <a:noFill/>
        </p:spPr>
        <p:txBody>
          <a:bodyPr wrap="square" anchor="t" lIns="0" rIns="0" tIns="0" bIns="0">
            <a:spAutoFit/>
          </a:bodyPr>
          <a:lstStyle/>
          <a:p>
            <a:pPr algn="l"/>
            <a:r>
              <a:rPr sz="1800" b="0" i="0">
                <a:solidFill>
                  <a:srgbClr val="0E8A84"/>
                </a:solidFill>
                <a:latin typeface="Calibri"/>
              </a:rPr>
              <a:t>One NLP pipeline for live, replayed, scripted and API input</a:t>
            </a:r>
          </a:p>
        </p:txBody>
      </p:sp>
      <p:pic>
        <p:nvPicPr>
          <p:cNvPr id="4" name="Picture 3" descr="architecture.png"/>
          <p:cNvPicPr>
            <a:picLocks noChangeAspect="1"/>
          </p:cNvPicPr>
          <p:nvPr/>
        </p:nvPicPr>
        <p:blipFill>
          <a:blip r:embed="rId2"/>
          <a:stretch>
            <a:fillRect/>
          </a:stretch>
        </p:blipFill>
        <p:spPr>
          <a:xfrm>
            <a:off x="742030" y="1371600"/>
            <a:ext cx="10707634" cy="4846320"/>
          </a:xfrm>
          <a:prstGeom prst="rect">
            <a:avLst/>
          </a:prstGeom>
          <a:ln w="12700">
            <a:solidFill>
              <a:srgbClr val="C9D3DB"/>
            </a:solidFill>
          </a:ln>
        </p:spPr>
      </p:pic>
      <p:sp>
        <p:nvSpPr>
          <p:cNvPr id="5" name="Footer"/>
          <p:cNvSpPr txBox="1"/>
          <p:nvPr/>
        </p:nvSpPr>
        <p:spPr>
          <a:xfrm>
            <a:off x="548640" y="6446520"/>
            <a:ext cx="8686800" cy="274320"/>
          </a:xfrm>
          <a:prstGeom prst="rect">
            <a:avLst/>
          </a:prstGeom>
          <a:noFill/>
        </p:spPr>
        <p:txBody>
          <a:bodyPr wrap="square" anchor="t" lIns="0" rIns="0" tIns="0" bIns="0">
            <a:spAutoFit/>
          </a:bodyPr>
          <a:lstStyle/>
          <a:p>
            <a:pPr algn="l"/>
            <a:r>
              <a:rPr sz="1800" b="0" i="0">
                <a:solidFill>
                  <a:srgbClr val="555B66"/>
                </a:solidFill>
                <a:latin typeface="Calibri"/>
              </a:rPr>
              <a:t>Risk Signal Engine · decision support, not investment advice</a:t>
            </a:r>
          </a:p>
        </p:txBody>
      </p:sp>
      <p:sp>
        <p:nvSpPr>
          <p:cNvPr id="6" name="SlideNo"/>
          <p:cNvSpPr txBox="1"/>
          <p:nvPr/>
        </p:nvSpPr>
        <p:spPr>
          <a:xfrm>
            <a:off x="10911535" y="6446520"/>
            <a:ext cx="731520" cy="274320"/>
          </a:xfrm>
          <a:prstGeom prst="rect">
            <a:avLst/>
          </a:prstGeom>
          <a:noFill/>
        </p:spPr>
        <p:txBody>
          <a:bodyPr wrap="square" anchor="t" lIns="0" rIns="0" tIns="0" bIns="0">
            <a:spAutoFit/>
          </a:bodyPr>
          <a:lstStyle/>
          <a:p>
            <a:pPr algn="r"/>
            <a:r>
              <a:rPr sz="1800" b="0" i="0">
                <a:solidFill>
                  <a:srgbClr val="555B66"/>
                </a:solidFill>
                <a:latin typeface="Calibri"/>
              </a:rPr>
              <a:t>3 /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411480"/>
            <a:ext cx="11094415" cy="685800"/>
          </a:xfrm>
          <a:prstGeom prst="rect">
            <a:avLst/>
          </a:prstGeom>
          <a:noFill/>
        </p:spPr>
        <p:txBody>
          <a:bodyPr wrap="square" anchor="t" lIns="0" rIns="0" tIns="0" bIns="0">
            <a:spAutoFit/>
          </a:bodyPr>
          <a:lstStyle/>
          <a:p>
            <a:pPr algn="l"/>
            <a:r>
              <a:rPr sz="3600" b="1" i="0">
                <a:solidFill>
                  <a:srgbClr val="1F2A44"/>
                </a:solidFill>
                <a:latin typeface="Calibri"/>
              </a:rPr>
              <a:t>Implementation highlights</a:t>
            </a:r>
          </a:p>
        </p:txBody>
      </p:sp>
      <p:sp>
        <p:nvSpPr>
          <p:cNvPr id="3" name="Subtitle"/>
          <p:cNvSpPr txBox="1"/>
          <p:nvPr/>
        </p:nvSpPr>
        <p:spPr>
          <a:xfrm>
            <a:off x="548640" y="1051560"/>
            <a:ext cx="11094415" cy="365760"/>
          </a:xfrm>
          <a:prstGeom prst="rect">
            <a:avLst/>
          </a:prstGeom>
          <a:noFill/>
        </p:spPr>
        <p:txBody>
          <a:bodyPr wrap="square" anchor="t" lIns="0" rIns="0" tIns="0" bIns="0">
            <a:spAutoFit/>
          </a:bodyPr>
          <a:lstStyle/>
          <a:p>
            <a:pPr algn="l"/>
            <a:r>
              <a:rPr sz="1800" b="0" i="0">
                <a:solidFill>
                  <a:srgbClr val="0E8A84"/>
                </a:solidFill>
                <a:latin typeface="Calibri"/>
              </a:rPr>
              <a:t>Every score is explained, every weight is published</a:t>
            </a:r>
          </a:p>
        </p:txBody>
      </p:sp>
      <p:sp>
        <p:nvSpPr>
          <p:cNvPr id="4" name="TextBox 3"/>
          <p:cNvSpPr txBox="1"/>
          <p:nvPr/>
        </p:nvSpPr>
        <p:spPr>
          <a:xfrm>
            <a:off x="548640" y="1463040"/>
            <a:ext cx="4937760" cy="4754880"/>
          </a:xfrm>
          <a:prstGeom prst="rect">
            <a:avLst/>
          </a:prstGeom>
          <a:noFill/>
        </p:spPr>
        <p:txBody>
          <a:bodyPr wrap="square" lIns="0" rIns="0" tIns="0" bIns="0">
            <a:spAutoFit/>
          </a:bodyPr>
          <a:lstStyle/>
          <a:p>
            <a:pPr marL="274320" indent="-274320">
              <a:spcAft>
                <a:spcPts val="1600"/>
              </a:spcAft>
              <a:buClr>
                <a:srgbClr val="0E8A84"/>
              </a:buClr>
              <a:buFont typeface="Arial"/>
              <a:buChar char="•"/>
            </a:pPr>
            <a:r>
              <a:rPr sz="1800" b="1" i="0">
                <a:solidFill>
                  <a:srgbClr val="1A1A1A"/>
                </a:solidFill>
                <a:latin typeface="Calibri"/>
              </a:rPr>
              <a:t>NLP: </a:t>
            </a:r>
            <a:r>
              <a:rPr sz="1800" b="0" i="0">
                <a:solidFill>
                  <a:srgbClr val="1A1A1A"/>
                </a:solidFill>
                <a:latin typeface="Calibri"/>
              </a:rPr>
              <a:t>entities, FinBERT sentiment, 11 event classes with evidence</a:t>
            </a:r>
          </a:p>
          <a:p>
            <a:pPr marL="274320" indent="-274320">
              <a:spcAft>
                <a:spcPts val="1600"/>
              </a:spcAft>
              <a:buClr>
                <a:srgbClr val="0E8A84"/>
              </a:buClr>
              <a:buFont typeface="Arial"/>
              <a:buChar char="•"/>
            </a:pPr>
            <a:r>
              <a:rPr sz="1800" b="1" i="0">
                <a:solidFill>
                  <a:srgbClr val="1A1A1A"/>
                </a:solidFill>
                <a:latin typeface="Calibri"/>
              </a:rPr>
              <a:t>Stress engine: </a:t>
            </a:r>
            <a:r>
              <a:rPr sz="1800" b="0" i="0">
                <a:solidFill>
                  <a:srgbClr val="1A1A1A"/>
                </a:solidFill>
                <a:latin typeface="Calibri"/>
              </a:rPr>
              <a:t>news triggers with cooldown; bonds, loans, swaps, CDS, FX, equity</a:t>
            </a:r>
          </a:p>
          <a:p>
            <a:pPr marL="274320" indent="-274320">
              <a:spcAft>
                <a:spcPts val="1600"/>
              </a:spcAft>
              <a:buClr>
                <a:srgbClr val="0E8A84"/>
              </a:buClr>
              <a:buFont typeface="Arial"/>
              <a:buChar char="•"/>
            </a:pPr>
            <a:r>
              <a:rPr sz="1800" b="1" i="0">
                <a:solidFill>
                  <a:srgbClr val="1A1A1A"/>
                </a:solidFill>
                <a:latin typeface="Calibri"/>
              </a:rPr>
              <a:t>Credit views: </a:t>
            </a:r>
            <a:r>
              <a:rPr sz="1800" b="0" i="0">
                <a:solidFill>
                  <a:srgbClr val="1A1A1A"/>
                </a:solidFill>
                <a:latin typeface="Calibri"/>
              </a:rPr>
              <a:t>watchlist, propagation, one-click credit brief</a:t>
            </a:r>
          </a:p>
          <a:p>
            <a:pPr marL="274320" indent="-274320">
              <a:spcAft>
                <a:spcPts val="1600"/>
              </a:spcAft>
              <a:buClr>
                <a:srgbClr val="0E8A84"/>
              </a:buClr>
              <a:buFont typeface="Arial"/>
              <a:buChar char="•"/>
            </a:pPr>
            <a:r>
              <a:rPr sz="1800" b="1" i="0">
                <a:solidFill>
                  <a:srgbClr val="1A1A1A"/>
                </a:solidFill>
                <a:latin typeface="Calibri"/>
              </a:rPr>
              <a:t>Engineering: </a:t>
            </a:r>
            <a:r>
              <a:rPr sz="1800" b="0" i="0">
                <a:solidFill>
                  <a:srgbClr val="1A1A1A"/>
                </a:solidFill>
                <a:latin typeface="Calibri"/>
              </a:rPr>
              <a:t>one pipeline for every input, offline demo, time machine, audit trail</a:t>
            </a:r>
          </a:p>
        </p:txBody>
      </p:sp>
      <p:pic>
        <p:nvPicPr>
          <p:cNvPr id="5" name="Picture 4" descr="explain_factors.png"/>
          <p:cNvPicPr>
            <a:picLocks noChangeAspect="1"/>
          </p:cNvPicPr>
          <p:nvPr/>
        </p:nvPicPr>
        <p:blipFill>
          <a:blip r:embed="rId2"/>
          <a:stretch>
            <a:fillRect/>
          </a:stretch>
        </p:blipFill>
        <p:spPr>
          <a:xfrm>
            <a:off x="5623560" y="1371600"/>
            <a:ext cx="6035040" cy="1670413"/>
          </a:xfrm>
          <a:prstGeom prst="rect">
            <a:avLst/>
          </a:prstGeom>
          <a:ln w="12700">
            <a:solidFill>
              <a:srgbClr val="C9D3DB"/>
            </a:solidFill>
          </a:ln>
        </p:spPr>
      </p:pic>
      <p:sp>
        <p:nvSpPr>
          <p:cNvPr id="6" name="TextBox 5"/>
          <p:cNvSpPr txBox="1"/>
          <p:nvPr/>
        </p:nvSpPr>
        <p:spPr>
          <a:xfrm>
            <a:off x="5623560" y="3106021"/>
            <a:ext cx="6035040" cy="320040"/>
          </a:xfrm>
          <a:prstGeom prst="rect">
            <a:avLst/>
          </a:prstGeom>
          <a:noFill/>
        </p:spPr>
        <p:txBody>
          <a:bodyPr wrap="square" anchor="t" lIns="0" rIns="0" tIns="0" bIns="0">
            <a:spAutoFit/>
          </a:bodyPr>
          <a:lstStyle/>
          <a:p>
            <a:pPr algn="l"/>
            <a:r>
              <a:rPr sz="1800" b="0" i="1">
                <a:solidFill>
                  <a:srgbClr val="555B66"/>
                </a:solidFill>
                <a:latin typeface="Calibri"/>
              </a:rPr>
              <a:t>Factor contributions for a SYNTHETIC demo signal</a:t>
            </a:r>
          </a:p>
        </p:txBody>
      </p:sp>
      <p:sp>
        <p:nvSpPr>
          <p:cNvPr id="7" name="Rounded Rectangle 6"/>
          <p:cNvSpPr/>
          <p:nvPr/>
        </p:nvSpPr>
        <p:spPr>
          <a:xfrm>
            <a:off x="548640" y="4754880"/>
            <a:ext cx="11094415" cy="1051560"/>
          </a:xfrm>
          <a:prstGeom prst="roundRect">
            <a:avLst>
              <a:gd name="adj" fmla="val 6000"/>
            </a:avLst>
          </a:prstGeom>
          <a:solidFill>
            <a:srgbClr val="FFFFFF"/>
          </a:solidFill>
          <a:ln w="15875">
            <a:solidFill>
              <a:srgbClr val="0E8A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910328"/>
            <a:ext cx="10545775" cy="1005840"/>
          </a:xfrm>
          <a:prstGeom prst="rect">
            <a:avLst/>
          </a:prstGeom>
          <a:noFill/>
        </p:spPr>
        <p:txBody>
          <a:bodyPr wrap="square" anchor="t" lIns="0" rIns="0" tIns="0" bIns="0">
            <a:spAutoFit/>
          </a:bodyPr>
          <a:lstStyle/>
          <a:p>
            <a:pPr algn="l"/>
            <a:r>
              <a:rPr sz="2400" b="1" i="0">
                <a:solidFill>
                  <a:srgbClr val="1F2A44"/>
                </a:solidFill>
                <a:latin typeface="Calibri"/>
              </a:rPr>
              <a:t>Impact = 1 + 9 × Q × (</a:t>
            </a:r>
            <a:r>
              <a:rPr sz="2400" b="1" i="0">
                <a:solidFill>
                  <a:srgbClr val="0E8A84"/>
                </a:solidFill>
                <a:latin typeface="Calibri"/>
              </a:rPr>
              <a:t>0.40·E + 0.25·M + 0.20·X + 0.15·R</a:t>
            </a:r>
            <a:r>
              <a:rPr sz="2400" b="1" i="0">
                <a:solidFill>
                  <a:srgbClr val="1F2A44"/>
                </a:solidFill>
                <a:latin typeface="Calibri"/>
              </a:rPr>
              <a:t>)</a:t>
            </a:r>
          </a:p>
          <a:p>
            <a:pPr algn="l"/>
            <a:r>
              <a:rPr sz="1800" b="0" i="0">
                <a:solidFill>
                  <a:srgbClr val="1A1A1A"/>
                </a:solidFill>
                <a:latin typeface="Calibri"/>
              </a:rPr>
              <a:t>E severity · M sentiment · X exposure · R credibility · Q confidence · </a:t>
            </a:r>
            <a:r>
              <a:rPr sz="1800" b="0" i="0">
                <a:solidFill>
                  <a:srgbClr val="555B66"/>
                </a:solidFill>
                <a:latin typeface="Calibri"/>
              </a:rPr>
              <a:t>uncalibrated expert priors</a:t>
            </a:r>
          </a:p>
        </p:txBody>
      </p:sp>
      <p:sp>
        <p:nvSpPr>
          <p:cNvPr id="9" name="Footer"/>
          <p:cNvSpPr txBox="1"/>
          <p:nvPr/>
        </p:nvSpPr>
        <p:spPr>
          <a:xfrm>
            <a:off x="548640" y="6446520"/>
            <a:ext cx="8686800" cy="274320"/>
          </a:xfrm>
          <a:prstGeom prst="rect">
            <a:avLst/>
          </a:prstGeom>
          <a:noFill/>
        </p:spPr>
        <p:txBody>
          <a:bodyPr wrap="square" anchor="t" lIns="0" rIns="0" tIns="0" bIns="0">
            <a:spAutoFit/>
          </a:bodyPr>
          <a:lstStyle/>
          <a:p>
            <a:pPr algn="l"/>
            <a:r>
              <a:rPr sz="1800" b="0" i="0">
                <a:solidFill>
                  <a:srgbClr val="555B66"/>
                </a:solidFill>
                <a:latin typeface="Calibri"/>
              </a:rPr>
              <a:t>Risk Signal Engine · decision support, not investment advice</a:t>
            </a:r>
          </a:p>
        </p:txBody>
      </p:sp>
      <p:sp>
        <p:nvSpPr>
          <p:cNvPr id="10" name="SlideNo"/>
          <p:cNvSpPr txBox="1"/>
          <p:nvPr/>
        </p:nvSpPr>
        <p:spPr>
          <a:xfrm>
            <a:off x="10911535" y="6446520"/>
            <a:ext cx="731520" cy="274320"/>
          </a:xfrm>
          <a:prstGeom prst="rect">
            <a:avLst/>
          </a:prstGeom>
          <a:noFill/>
        </p:spPr>
        <p:txBody>
          <a:bodyPr wrap="square" anchor="t" lIns="0" rIns="0" tIns="0" bIns="0">
            <a:spAutoFit/>
          </a:bodyPr>
          <a:lstStyle/>
          <a:p>
            <a:pPr algn="r"/>
            <a:r>
              <a:rPr sz="1800" b="0" i="0">
                <a:solidFill>
                  <a:srgbClr val="555B66"/>
                </a:solidFill>
                <a:latin typeface="Calibri"/>
              </a:rPr>
              <a:t>4 /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411480"/>
            <a:ext cx="11094415" cy="685800"/>
          </a:xfrm>
          <a:prstGeom prst="rect">
            <a:avLst/>
          </a:prstGeom>
          <a:noFill/>
        </p:spPr>
        <p:txBody>
          <a:bodyPr wrap="square" anchor="t" lIns="0" rIns="0" tIns="0" bIns="0">
            <a:spAutoFit/>
          </a:bodyPr>
          <a:lstStyle/>
          <a:p>
            <a:pPr algn="l"/>
            <a:r>
              <a:rPr sz="3600" b="1" i="0">
                <a:solidFill>
                  <a:srgbClr val="1F2A44"/>
                </a:solidFill>
                <a:latin typeface="Calibri"/>
              </a:rPr>
              <a:t>Key results and metrics</a:t>
            </a:r>
          </a:p>
        </p:txBody>
      </p:sp>
      <p:sp>
        <p:nvSpPr>
          <p:cNvPr id="3" name="Subtitle"/>
          <p:cNvSpPr txBox="1"/>
          <p:nvPr/>
        </p:nvSpPr>
        <p:spPr>
          <a:xfrm>
            <a:off x="548640" y="1051560"/>
            <a:ext cx="11094415" cy="365760"/>
          </a:xfrm>
          <a:prstGeom prst="rect">
            <a:avLst/>
          </a:prstGeom>
          <a:noFill/>
        </p:spPr>
        <p:txBody>
          <a:bodyPr wrap="square" anchor="t" lIns="0" rIns="0" tIns="0" bIns="0">
            <a:spAutoFit/>
          </a:bodyPr>
          <a:lstStyle/>
          <a:p>
            <a:pPr algn="l"/>
            <a:r>
              <a:rPr sz="1800" b="0" i="0">
                <a:solidFill>
                  <a:srgbClr val="0E8A84"/>
                </a:solidFill>
                <a:latin typeface="Calibri"/>
              </a:rPr>
              <a:t>Accuracy: preliminary (labels pending human review)</a:t>
            </a:r>
          </a:p>
        </p:txBody>
      </p:sp>
      <p:sp>
        <p:nvSpPr>
          <p:cNvPr id="4" name="Rounded Rectangle 3"/>
          <p:cNvSpPr/>
          <p:nvPr/>
        </p:nvSpPr>
        <p:spPr>
          <a:xfrm>
            <a:off x="548640" y="1417320"/>
            <a:ext cx="2103120" cy="1371600"/>
          </a:xfrm>
          <a:prstGeom prst="roundRect">
            <a:avLst>
              <a:gd name="adj" fmla="val 6000"/>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490472"/>
            <a:ext cx="1828800" cy="548640"/>
          </a:xfrm>
          <a:prstGeom prst="rect">
            <a:avLst/>
          </a:prstGeom>
          <a:noFill/>
        </p:spPr>
        <p:txBody>
          <a:bodyPr wrap="square" anchor="t" lIns="0" rIns="0" tIns="0" bIns="0">
            <a:spAutoFit/>
          </a:bodyPr>
          <a:lstStyle/>
          <a:p>
            <a:pPr algn="l"/>
            <a:r>
              <a:rPr sz="2800" b="1" i="0">
                <a:solidFill>
                  <a:srgbClr val="1F2A44"/>
                </a:solidFill>
                <a:latin typeface="Calibri"/>
              </a:rPr>
              <a:t>0.653</a:t>
            </a:r>
          </a:p>
        </p:txBody>
      </p:sp>
      <p:sp>
        <p:nvSpPr>
          <p:cNvPr id="6" name="TextBox 5"/>
          <p:cNvSpPr txBox="1"/>
          <p:nvPr/>
        </p:nvSpPr>
        <p:spPr>
          <a:xfrm>
            <a:off x="713232" y="2020824"/>
            <a:ext cx="1828800" cy="365760"/>
          </a:xfrm>
          <a:prstGeom prst="rect">
            <a:avLst/>
          </a:prstGeom>
          <a:noFill/>
        </p:spPr>
        <p:txBody>
          <a:bodyPr wrap="square" anchor="t" lIns="0" rIns="0" tIns="0" bIns="0">
            <a:spAutoFit/>
          </a:bodyPr>
          <a:lstStyle/>
          <a:p>
            <a:pPr algn="l"/>
            <a:r>
              <a:rPr sz="1800" b="1" i="0">
                <a:solidFill>
                  <a:srgbClr val="1A1A1A"/>
                </a:solidFill>
                <a:latin typeface="Calibri"/>
              </a:rPr>
              <a:t>Sentiment</a:t>
            </a:r>
          </a:p>
        </p:txBody>
      </p:sp>
      <p:sp>
        <p:nvSpPr>
          <p:cNvPr id="7" name="TextBox 6"/>
          <p:cNvSpPr txBox="1"/>
          <p:nvPr/>
        </p:nvSpPr>
        <p:spPr>
          <a:xfrm>
            <a:off x="713232" y="2359152"/>
            <a:ext cx="1828800" cy="365760"/>
          </a:xfrm>
          <a:prstGeom prst="rect">
            <a:avLst/>
          </a:prstGeom>
          <a:noFill/>
        </p:spPr>
        <p:txBody>
          <a:bodyPr wrap="square" anchor="t" lIns="0" rIns="0" tIns="0" bIns="0">
            <a:spAutoFit/>
          </a:bodyPr>
          <a:lstStyle/>
          <a:p>
            <a:pPr algn="l"/>
            <a:r>
              <a:rPr sz="1800" b="0" i="0">
                <a:solidFill>
                  <a:srgbClr val="555B66"/>
                </a:solidFill>
                <a:latin typeface="Calibri"/>
              </a:rPr>
              <a:t>FinBERT · n = 147</a:t>
            </a:r>
          </a:p>
        </p:txBody>
      </p:sp>
      <p:sp>
        <p:nvSpPr>
          <p:cNvPr id="8" name="Rounded Rectangle 7"/>
          <p:cNvSpPr/>
          <p:nvPr/>
        </p:nvSpPr>
        <p:spPr>
          <a:xfrm>
            <a:off x="2770632" y="1417320"/>
            <a:ext cx="2103120" cy="1371600"/>
          </a:xfrm>
          <a:prstGeom prst="roundRect">
            <a:avLst>
              <a:gd name="adj" fmla="val 6000"/>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35224" y="1490472"/>
            <a:ext cx="1828800" cy="548640"/>
          </a:xfrm>
          <a:prstGeom prst="rect">
            <a:avLst/>
          </a:prstGeom>
          <a:noFill/>
        </p:spPr>
        <p:txBody>
          <a:bodyPr wrap="square" anchor="t" lIns="0" rIns="0" tIns="0" bIns="0">
            <a:spAutoFit/>
          </a:bodyPr>
          <a:lstStyle/>
          <a:p>
            <a:pPr algn="l"/>
            <a:r>
              <a:rPr sz="2800" b="1" i="0">
                <a:solidFill>
                  <a:srgbClr val="1F2A44"/>
                </a:solidFill>
                <a:latin typeface="Calibri"/>
              </a:rPr>
              <a:t>0.81</a:t>
            </a:r>
          </a:p>
        </p:txBody>
      </p:sp>
      <p:sp>
        <p:nvSpPr>
          <p:cNvPr id="10" name="TextBox 9"/>
          <p:cNvSpPr txBox="1"/>
          <p:nvPr/>
        </p:nvSpPr>
        <p:spPr>
          <a:xfrm>
            <a:off x="2935224" y="2020824"/>
            <a:ext cx="1828800" cy="365760"/>
          </a:xfrm>
          <a:prstGeom prst="rect">
            <a:avLst/>
          </a:prstGeom>
          <a:noFill/>
        </p:spPr>
        <p:txBody>
          <a:bodyPr wrap="square" anchor="t" lIns="0" rIns="0" tIns="0" bIns="0">
            <a:spAutoFit/>
          </a:bodyPr>
          <a:lstStyle/>
          <a:p>
            <a:pPr algn="l"/>
            <a:r>
              <a:rPr sz="1800" b="1" i="0">
                <a:solidFill>
                  <a:srgbClr val="1A1A1A"/>
                </a:solidFill>
                <a:latin typeface="Calibri"/>
              </a:rPr>
              <a:t>Events</a:t>
            </a:r>
          </a:p>
        </p:txBody>
      </p:sp>
      <p:sp>
        <p:nvSpPr>
          <p:cNvPr id="11" name="TextBox 10"/>
          <p:cNvSpPr txBox="1"/>
          <p:nvPr/>
        </p:nvSpPr>
        <p:spPr>
          <a:xfrm>
            <a:off x="2935224" y="2359152"/>
            <a:ext cx="1828800" cy="365760"/>
          </a:xfrm>
          <a:prstGeom prst="rect">
            <a:avLst/>
          </a:prstGeom>
          <a:noFill/>
        </p:spPr>
        <p:txBody>
          <a:bodyPr wrap="square" anchor="t" lIns="0" rIns="0" tIns="0" bIns="0">
            <a:spAutoFit/>
          </a:bodyPr>
          <a:lstStyle/>
          <a:p>
            <a:pPr algn="l"/>
            <a:r>
              <a:rPr sz="1800" b="0" i="0">
                <a:solidFill>
                  <a:srgbClr val="555B66"/>
                </a:solidFill>
                <a:latin typeface="Calibri"/>
              </a:rPr>
              <a:t>rules · n = 147</a:t>
            </a:r>
          </a:p>
        </p:txBody>
      </p:sp>
      <p:sp>
        <p:nvSpPr>
          <p:cNvPr id="12" name="Rounded Rectangle 11"/>
          <p:cNvSpPr/>
          <p:nvPr/>
        </p:nvSpPr>
        <p:spPr>
          <a:xfrm>
            <a:off x="4992624" y="1417320"/>
            <a:ext cx="2103120" cy="1371600"/>
          </a:xfrm>
          <a:prstGeom prst="roundRect">
            <a:avLst>
              <a:gd name="adj" fmla="val 6000"/>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57216" y="1490472"/>
            <a:ext cx="1828800" cy="548640"/>
          </a:xfrm>
          <a:prstGeom prst="rect">
            <a:avLst/>
          </a:prstGeom>
          <a:noFill/>
        </p:spPr>
        <p:txBody>
          <a:bodyPr wrap="square" anchor="t" lIns="0" rIns="0" tIns="0" bIns="0">
            <a:spAutoFit/>
          </a:bodyPr>
          <a:lstStyle/>
          <a:p>
            <a:pPr algn="l"/>
            <a:r>
              <a:rPr sz="2800" b="1" i="0">
                <a:solidFill>
                  <a:srgbClr val="1F2A44"/>
                </a:solidFill>
                <a:latin typeface="Calibri"/>
              </a:rPr>
              <a:t>0.898</a:t>
            </a:r>
          </a:p>
        </p:txBody>
      </p:sp>
      <p:sp>
        <p:nvSpPr>
          <p:cNvPr id="14" name="TextBox 13"/>
          <p:cNvSpPr txBox="1"/>
          <p:nvPr/>
        </p:nvSpPr>
        <p:spPr>
          <a:xfrm>
            <a:off x="5157216" y="2020824"/>
            <a:ext cx="1828800" cy="365760"/>
          </a:xfrm>
          <a:prstGeom prst="rect">
            <a:avLst/>
          </a:prstGeom>
          <a:noFill/>
        </p:spPr>
        <p:txBody>
          <a:bodyPr wrap="square" anchor="t" lIns="0" rIns="0" tIns="0" bIns="0">
            <a:spAutoFit/>
          </a:bodyPr>
          <a:lstStyle/>
          <a:p>
            <a:pPr algn="l"/>
            <a:r>
              <a:rPr sz="1800" b="1" i="0">
                <a:solidFill>
                  <a:srgbClr val="1A1A1A"/>
                </a:solidFill>
                <a:latin typeface="Calibri"/>
              </a:rPr>
              <a:t>Entities</a:t>
            </a:r>
          </a:p>
        </p:txBody>
      </p:sp>
      <p:sp>
        <p:nvSpPr>
          <p:cNvPr id="15" name="TextBox 14"/>
          <p:cNvSpPr txBox="1"/>
          <p:nvPr/>
        </p:nvSpPr>
        <p:spPr>
          <a:xfrm>
            <a:off x="5157216" y="2359152"/>
            <a:ext cx="1828800" cy="365760"/>
          </a:xfrm>
          <a:prstGeom prst="rect">
            <a:avLst/>
          </a:prstGeom>
          <a:noFill/>
        </p:spPr>
        <p:txBody>
          <a:bodyPr wrap="square" anchor="t" lIns="0" rIns="0" tIns="0" bIns="0">
            <a:spAutoFit/>
          </a:bodyPr>
          <a:lstStyle/>
          <a:p>
            <a:pPr algn="l"/>
            <a:r>
              <a:rPr sz="1800" b="0" i="0">
                <a:solidFill>
                  <a:srgbClr val="555B66"/>
                </a:solidFill>
                <a:latin typeface="Calibri"/>
              </a:rPr>
              <a:t>n = 147</a:t>
            </a:r>
          </a:p>
        </p:txBody>
      </p:sp>
      <p:sp>
        <p:nvSpPr>
          <p:cNvPr id="16" name="Rounded Rectangle 15"/>
          <p:cNvSpPr/>
          <p:nvPr/>
        </p:nvSpPr>
        <p:spPr>
          <a:xfrm>
            <a:off x="7214616" y="1417320"/>
            <a:ext cx="2103120" cy="1371600"/>
          </a:xfrm>
          <a:prstGeom prst="roundRect">
            <a:avLst>
              <a:gd name="adj" fmla="val 6000"/>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79208" y="1490472"/>
            <a:ext cx="1828800" cy="548640"/>
          </a:xfrm>
          <a:prstGeom prst="rect">
            <a:avLst/>
          </a:prstGeom>
          <a:noFill/>
        </p:spPr>
        <p:txBody>
          <a:bodyPr wrap="square" anchor="t" lIns="0" rIns="0" tIns="0" bIns="0">
            <a:spAutoFit/>
          </a:bodyPr>
          <a:lstStyle/>
          <a:p>
            <a:pPr algn="l"/>
            <a:r>
              <a:rPr sz="2800" b="1" i="0">
                <a:solidFill>
                  <a:srgbClr val="1F2A44"/>
                </a:solidFill>
                <a:latin typeface="Calibri"/>
              </a:rPr>
              <a:t>204.7 ms</a:t>
            </a:r>
          </a:p>
        </p:txBody>
      </p:sp>
      <p:sp>
        <p:nvSpPr>
          <p:cNvPr id="18" name="TextBox 17"/>
          <p:cNvSpPr txBox="1"/>
          <p:nvPr/>
        </p:nvSpPr>
        <p:spPr>
          <a:xfrm>
            <a:off x="7379208" y="2020824"/>
            <a:ext cx="1828800" cy="365760"/>
          </a:xfrm>
          <a:prstGeom prst="rect">
            <a:avLst/>
          </a:prstGeom>
          <a:noFill/>
        </p:spPr>
        <p:txBody>
          <a:bodyPr wrap="square" anchor="t" lIns="0" rIns="0" tIns="0" bIns="0">
            <a:spAutoFit/>
          </a:bodyPr>
          <a:lstStyle/>
          <a:p>
            <a:pPr algn="l"/>
            <a:r>
              <a:rPr sz="1800" b="1" i="0">
                <a:solidFill>
                  <a:srgbClr val="1A1A1A"/>
                </a:solidFill>
                <a:latin typeface="Calibri"/>
              </a:rPr>
              <a:t>Median latency</a:t>
            </a:r>
          </a:p>
        </p:txBody>
      </p:sp>
      <p:sp>
        <p:nvSpPr>
          <p:cNvPr id="19" name="TextBox 18"/>
          <p:cNvSpPr txBox="1"/>
          <p:nvPr/>
        </p:nvSpPr>
        <p:spPr>
          <a:xfrm>
            <a:off x="7379208" y="2359152"/>
            <a:ext cx="1828800" cy="365760"/>
          </a:xfrm>
          <a:prstGeom prst="rect">
            <a:avLst/>
          </a:prstGeom>
          <a:noFill/>
        </p:spPr>
        <p:txBody>
          <a:bodyPr wrap="square" anchor="t" lIns="0" rIns="0" tIns="0" bIns="0">
            <a:spAutoFit/>
          </a:bodyPr>
          <a:lstStyle/>
          <a:p>
            <a:pPr algn="l"/>
            <a:r>
              <a:rPr sz="1800" b="0" i="0">
                <a:solidFill>
                  <a:srgbClr val="555B66"/>
                </a:solidFill>
                <a:latin typeface="Calibri"/>
              </a:rPr>
              <a:t>n = 200 docs</a:t>
            </a:r>
          </a:p>
        </p:txBody>
      </p:sp>
      <p:sp>
        <p:nvSpPr>
          <p:cNvPr id="20" name="Rounded Rectangle 19"/>
          <p:cNvSpPr/>
          <p:nvPr/>
        </p:nvSpPr>
        <p:spPr>
          <a:xfrm>
            <a:off x="9436608" y="1417320"/>
            <a:ext cx="2103120" cy="1371600"/>
          </a:xfrm>
          <a:prstGeom prst="roundRect">
            <a:avLst>
              <a:gd name="adj" fmla="val 6000"/>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0" y="1490472"/>
            <a:ext cx="1828800" cy="548640"/>
          </a:xfrm>
          <a:prstGeom prst="rect">
            <a:avLst/>
          </a:prstGeom>
          <a:noFill/>
        </p:spPr>
        <p:txBody>
          <a:bodyPr wrap="square" anchor="t" lIns="0" rIns="0" tIns="0" bIns="0">
            <a:spAutoFit/>
          </a:bodyPr>
          <a:lstStyle/>
          <a:p>
            <a:pPr algn="l"/>
            <a:r>
              <a:rPr sz="2800" b="1" i="0">
                <a:solidFill>
                  <a:srgbClr val="1F2A44"/>
                </a:solidFill>
                <a:latin typeface="Calibri"/>
              </a:rPr>
              <a:t>84 → 50</a:t>
            </a:r>
          </a:p>
        </p:txBody>
      </p:sp>
      <p:sp>
        <p:nvSpPr>
          <p:cNvPr id="22" name="TextBox 21"/>
          <p:cNvSpPr txBox="1"/>
          <p:nvPr/>
        </p:nvSpPr>
        <p:spPr>
          <a:xfrm>
            <a:off x="9601200" y="2020824"/>
            <a:ext cx="1828800" cy="365760"/>
          </a:xfrm>
          <a:prstGeom prst="rect">
            <a:avLst/>
          </a:prstGeom>
          <a:noFill/>
        </p:spPr>
        <p:txBody>
          <a:bodyPr wrap="square" anchor="t" lIns="0" rIns="0" tIns="0" bIns="0">
            <a:spAutoFit/>
          </a:bodyPr>
          <a:lstStyle/>
          <a:p>
            <a:pPr algn="l"/>
            <a:r>
              <a:rPr sz="1800" b="1" i="0">
                <a:solidFill>
                  <a:srgbClr val="1A1A1A"/>
                </a:solidFill>
                <a:latin typeface="Calibri"/>
              </a:rPr>
              <a:t>Stress runs</a:t>
            </a:r>
          </a:p>
        </p:txBody>
      </p:sp>
      <p:sp>
        <p:nvSpPr>
          <p:cNvPr id="23" name="TextBox 22"/>
          <p:cNvSpPr txBox="1"/>
          <p:nvPr/>
        </p:nvSpPr>
        <p:spPr>
          <a:xfrm>
            <a:off x="9601200" y="2359152"/>
            <a:ext cx="1828800" cy="365760"/>
          </a:xfrm>
          <a:prstGeom prst="rect">
            <a:avLst/>
          </a:prstGeom>
          <a:noFill/>
        </p:spPr>
        <p:txBody>
          <a:bodyPr wrap="square" anchor="t" lIns="0" rIns="0" tIns="0" bIns="0">
            <a:spAutoFit/>
          </a:bodyPr>
          <a:lstStyle/>
          <a:p>
            <a:pPr algn="l"/>
            <a:r>
              <a:rPr sz="1800" b="0" i="0">
                <a:solidFill>
                  <a:srgbClr val="555B66"/>
                </a:solidFill>
                <a:latin typeface="Calibri"/>
              </a:rPr>
              <a:t>n = 911 real docs</a:t>
            </a:r>
          </a:p>
        </p:txBody>
      </p:sp>
      <p:sp>
        <p:nvSpPr>
          <p:cNvPr id="24" name="TextBox 23"/>
          <p:cNvSpPr txBox="1"/>
          <p:nvPr/>
        </p:nvSpPr>
        <p:spPr>
          <a:xfrm>
            <a:off x="548640" y="2834640"/>
            <a:ext cx="10972800" cy="320040"/>
          </a:xfrm>
          <a:prstGeom prst="rect">
            <a:avLst/>
          </a:prstGeom>
          <a:noFill/>
        </p:spPr>
        <p:txBody>
          <a:bodyPr wrap="square" anchor="t" lIns="0" rIns="0" tIns="0" bIns="0">
            <a:spAutoFit/>
          </a:bodyPr>
          <a:lstStyle/>
          <a:p>
            <a:pPr algn="l"/>
            <a:r>
              <a:rPr sz="1800" b="0" i="1">
                <a:solidFill>
                  <a:srgbClr val="555B66"/>
                </a:solidFill>
                <a:latin typeface="Calibri"/>
              </a:rPr>
              <a:t>AI-drafted labels: a smoke test, not a benchmark.</a:t>
            </a:r>
          </a:p>
        </p:txBody>
      </p:sp>
      <p:sp>
        <p:nvSpPr>
          <p:cNvPr id="25" name="TextBox 24"/>
          <p:cNvSpPr txBox="1"/>
          <p:nvPr/>
        </p:nvSpPr>
        <p:spPr>
          <a:xfrm>
            <a:off x="548640" y="3291839"/>
            <a:ext cx="4480560" cy="365760"/>
          </a:xfrm>
          <a:prstGeom prst="rect">
            <a:avLst/>
          </a:prstGeom>
          <a:noFill/>
        </p:spPr>
        <p:txBody>
          <a:bodyPr wrap="square" anchor="t" lIns="0" rIns="0" tIns="0" bIns="0">
            <a:spAutoFit/>
          </a:bodyPr>
          <a:lstStyle/>
          <a:p>
            <a:pPr algn="l"/>
            <a:r>
              <a:rPr sz="1900" b="1" i="0">
                <a:solidFill>
                  <a:srgbClr val="1F2A44"/>
                </a:solidFill>
                <a:latin typeface="Calibri"/>
              </a:rPr>
              <a:t>Scenario demo (simulated)</a:t>
            </a:r>
          </a:p>
        </p:txBody>
      </p:sp>
      <p:sp>
        <p:nvSpPr>
          <p:cNvPr id="26" name="Oval 25"/>
          <p:cNvSpPr/>
          <p:nvPr/>
        </p:nvSpPr>
        <p:spPr>
          <a:xfrm>
            <a:off x="548640" y="3840479"/>
            <a:ext cx="237744" cy="237744"/>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3749039"/>
            <a:ext cx="4023360" cy="420624"/>
          </a:xfrm>
          <a:prstGeom prst="rect">
            <a:avLst/>
          </a:prstGeom>
          <a:noFill/>
        </p:spPr>
        <p:txBody>
          <a:bodyPr wrap="square" anchor="ctr" lIns="0" rIns="0" tIns="0" bIns="0">
            <a:spAutoFit/>
          </a:bodyPr>
          <a:lstStyle/>
          <a:p>
            <a:pPr algn="l"/>
            <a:r>
              <a:rPr sz="1800" b="1" i="0">
                <a:solidFill>
                  <a:srgbClr val="0CA30C"/>
                </a:solidFill>
                <a:latin typeface="Calibri"/>
              </a:rPr>
              <a:t>0.41% GREEN  </a:t>
            </a:r>
            <a:r>
              <a:rPr sz="1800" b="0" i="0">
                <a:solidFill>
                  <a:srgbClr val="1A1A1A"/>
                </a:solidFill>
                <a:latin typeface="Calibri"/>
              </a:rPr>
              <a:t>Tata Motors downgrade</a:t>
            </a:r>
          </a:p>
        </p:txBody>
      </p:sp>
      <p:sp>
        <p:nvSpPr>
          <p:cNvPr id="28" name="Oval 27"/>
          <p:cNvSpPr/>
          <p:nvPr/>
        </p:nvSpPr>
        <p:spPr>
          <a:xfrm>
            <a:off x="548640" y="4297679"/>
            <a:ext cx="237744" cy="237744"/>
          </a:xfrm>
          <a:prstGeom prst="ellipse">
            <a:avLst/>
          </a:prstGeom>
          <a:solidFill>
            <a:srgbClr val="C9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4206239"/>
            <a:ext cx="4023360" cy="420624"/>
          </a:xfrm>
          <a:prstGeom prst="rect">
            <a:avLst/>
          </a:prstGeom>
          <a:noFill/>
        </p:spPr>
        <p:txBody>
          <a:bodyPr wrap="square" anchor="ctr" lIns="0" rIns="0" tIns="0" bIns="0">
            <a:spAutoFit/>
          </a:bodyPr>
          <a:lstStyle/>
          <a:p>
            <a:pPr algn="l"/>
            <a:r>
              <a:rPr sz="1800" b="1" i="0">
                <a:solidFill>
                  <a:srgbClr val="C98A00"/>
                </a:solidFill>
                <a:latin typeface="Calibri"/>
              </a:rPr>
              <a:t>1.32% AMBER  </a:t>
            </a:r>
            <a:r>
              <a:rPr sz="1800" b="0" i="0">
                <a:solidFill>
                  <a:srgbClr val="1A1A1A"/>
                </a:solidFill>
                <a:latin typeface="Calibri"/>
              </a:rPr>
              <a:t>Invasion (1 source)</a:t>
            </a:r>
          </a:p>
        </p:txBody>
      </p:sp>
      <p:sp>
        <p:nvSpPr>
          <p:cNvPr id="30" name="Oval 29"/>
          <p:cNvSpPr/>
          <p:nvPr/>
        </p:nvSpPr>
        <p:spPr>
          <a:xfrm>
            <a:off x="548640" y="4754879"/>
            <a:ext cx="237744" cy="237744"/>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2688" y="4663439"/>
            <a:ext cx="4023360" cy="420624"/>
          </a:xfrm>
          <a:prstGeom prst="rect">
            <a:avLst/>
          </a:prstGeom>
          <a:noFill/>
        </p:spPr>
        <p:txBody>
          <a:bodyPr wrap="square" anchor="ctr" lIns="0" rIns="0" tIns="0" bIns="0">
            <a:spAutoFit/>
          </a:bodyPr>
          <a:lstStyle/>
          <a:p>
            <a:pPr algn="l"/>
            <a:r>
              <a:rPr sz="1800" b="1" i="0">
                <a:solidFill>
                  <a:srgbClr val="D03B3B"/>
                </a:solidFill>
                <a:latin typeface="Calibri"/>
              </a:rPr>
              <a:t>2.45% RED  </a:t>
            </a:r>
            <a:r>
              <a:rPr sz="1800" b="0" i="0">
                <a:solidFill>
                  <a:srgbClr val="1A1A1A"/>
                </a:solidFill>
                <a:latin typeface="Calibri"/>
              </a:rPr>
              <a:t>Corroborated (2 sources)</a:t>
            </a:r>
          </a:p>
        </p:txBody>
      </p:sp>
      <p:sp>
        <p:nvSpPr>
          <p:cNvPr id="32" name="TextBox 31"/>
          <p:cNvSpPr txBox="1"/>
          <p:nvPr/>
        </p:nvSpPr>
        <p:spPr>
          <a:xfrm>
            <a:off x="548640" y="5212079"/>
            <a:ext cx="4480560" cy="731520"/>
          </a:xfrm>
          <a:prstGeom prst="rect">
            <a:avLst/>
          </a:prstGeom>
          <a:noFill/>
        </p:spPr>
        <p:txBody>
          <a:bodyPr wrap="square" anchor="t" lIns="0" rIns="0" tIns="0" bIns="0">
            <a:spAutoFit/>
          </a:bodyPr>
          <a:lstStyle/>
          <a:p>
            <a:pPr algn="l"/>
            <a:r>
              <a:rPr sz="1800" b="1" i="0">
                <a:solidFill>
                  <a:srgbClr val="1F2A44"/>
                </a:solidFill>
                <a:latin typeface="Calibri"/>
              </a:rPr>
              <a:t>REAL history: </a:t>
            </a:r>
            <a:r>
              <a:rPr sz="1800" b="0" i="0">
                <a:solidFill>
                  <a:srgbClr val="1A1A1A"/>
                </a:solidFill>
                <a:latin typeface="Calibri"/>
              </a:rPr>
              <a:t>1,325 docs → 54 simulated runs</a:t>
            </a:r>
          </a:p>
        </p:txBody>
      </p:sp>
      <p:pic>
        <p:nvPicPr>
          <p:cNvPr id="33" name="Picture 32" descr="stress_waterfall.png"/>
          <p:cNvPicPr>
            <a:picLocks noChangeAspect="1"/>
          </p:cNvPicPr>
          <p:nvPr/>
        </p:nvPicPr>
        <p:blipFill>
          <a:blip r:embed="rId2"/>
          <a:stretch>
            <a:fillRect/>
          </a:stretch>
        </p:blipFill>
        <p:spPr>
          <a:xfrm>
            <a:off x="5120640" y="3291839"/>
            <a:ext cx="6537960" cy="2451735"/>
          </a:xfrm>
          <a:prstGeom prst="rect">
            <a:avLst/>
          </a:prstGeom>
          <a:ln w="12700">
            <a:solidFill>
              <a:srgbClr val="C9D3DB"/>
            </a:solidFill>
          </a:ln>
        </p:spPr>
      </p:pic>
      <p:sp>
        <p:nvSpPr>
          <p:cNvPr id="34" name="TextBox 33"/>
          <p:cNvSpPr txBox="1"/>
          <p:nvPr/>
        </p:nvSpPr>
        <p:spPr>
          <a:xfrm>
            <a:off x="5120640" y="5771006"/>
            <a:ext cx="6537960" cy="320040"/>
          </a:xfrm>
          <a:prstGeom prst="rect">
            <a:avLst/>
          </a:prstGeom>
          <a:noFill/>
        </p:spPr>
        <p:txBody>
          <a:bodyPr wrap="square" anchor="t" lIns="0" rIns="0" tIns="0" bIns="0">
            <a:spAutoFit/>
          </a:bodyPr>
          <a:lstStyle/>
          <a:p>
            <a:pPr algn="l"/>
            <a:r>
              <a:rPr sz="1800" b="0" i="1">
                <a:solidFill>
                  <a:srgbClr val="555B66"/>
                </a:solidFill>
                <a:latin typeface="Calibri"/>
              </a:rPr>
              <a:t>Before → after, corroborated geopolitical shock</a:t>
            </a:r>
          </a:p>
        </p:txBody>
      </p:sp>
      <p:sp>
        <p:nvSpPr>
          <p:cNvPr id="35" name="Disclaimer"/>
          <p:cNvSpPr txBox="1"/>
          <p:nvPr/>
        </p:nvSpPr>
        <p:spPr>
          <a:xfrm>
            <a:off x="548640" y="6080760"/>
            <a:ext cx="11094415" cy="320040"/>
          </a:xfrm>
          <a:prstGeom prst="rect">
            <a:avLst/>
          </a:prstGeom>
          <a:noFill/>
        </p:spPr>
        <p:txBody>
          <a:bodyPr wrap="square" anchor="t" lIns="0" rIns="0" tIns="0" bIns="0">
            <a:spAutoFit/>
          </a:bodyPr>
          <a:lstStyle/>
          <a:p>
            <a:pPr algn="l"/>
            <a:r>
              <a:rPr sz="1800" b="1" i="0">
                <a:solidFill>
                  <a:srgbClr val="D03B3B"/>
                </a:solidFill>
                <a:latin typeface="Calibri"/>
              </a:rPr>
              <a:t>Simplified, illustrative hackathon stress model. Not a production or regulatory risk model.</a:t>
            </a:r>
          </a:p>
        </p:txBody>
      </p:sp>
      <p:sp>
        <p:nvSpPr>
          <p:cNvPr id="36" name="Footer"/>
          <p:cNvSpPr txBox="1"/>
          <p:nvPr/>
        </p:nvSpPr>
        <p:spPr>
          <a:xfrm>
            <a:off x="548640" y="6446520"/>
            <a:ext cx="8686800" cy="274320"/>
          </a:xfrm>
          <a:prstGeom prst="rect">
            <a:avLst/>
          </a:prstGeom>
          <a:noFill/>
        </p:spPr>
        <p:txBody>
          <a:bodyPr wrap="square" anchor="t" lIns="0" rIns="0" tIns="0" bIns="0">
            <a:spAutoFit/>
          </a:bodyPr>
          <a:lstStyle/>
          <a:p>
            <a:pPr algn="l"/>
            <a:r>
              <a:rPr sz="1800" b="0" i="0">
                <a:solidFill>
                  <a:srgbClr val="555B66"/>
                </a:solidFill>
                <a:latin typeface="Calibri"/>
              </a:rPr>
              <a:t>Simulated losses · illustrative model, synthetic portfolio · not investment advice</a:t>
            </a:r>
          </a:p>
        </p:txBody>
      </p:sp>
      <p:sp>
        <p:nvSpPr>
          <p:cNvPr id="37" name="SlideNo"/>
          <p:cNvSpPr txBox="1"/>
          <p:nvPr/>
        </p:nvSpPr>
        <p:spPr>
          <a:xfrm>
            <a:off x="10911535" y="6446520"/>
            <a:ext cx="731520" cy="274320"/>
          </a:xfrm>
          <a:prstGeom prst="rect">
            <a:avLst/>
          </a:prstGeom>
          <a:noFill/>
        </p:spPr>
        <p:txBody>
          <a:bodyPr wrap="square" anchor="t" lIns="0" rIns="0" tIns="0" bIns="0">
            <a:spAutoFit/>
          </a:bodyPr>
          <a:lstStyle/>
          <a:p>
            <a:pPr algn="r"/>
            <a:r>
              <a:rPr sz="1800" b="0" i="0">
                <a:solidFill>
                  <a:srgbClr val="555B66"/>
                </a:solidFill>
                <a:latin typeface="Calibri"/>
              </a:rPr>
              <a:t>5 / 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411480"/>
            <a:ext cx="11094415" cy="685800"/>
          </a:xfrm>
          <a:prstGeom prst="rect">
            <a:avLst/>
          </a:prstGeom>
          <a:noFill/>
        </p:spPr>
        <p:txBody>
          <a:bodyPr wrap="square" anchor="t" lIns="0" rIns="0" tIns="0" bIns="0">
            <a:spAutoFit/>
          </a:bodyPr>
          <a:lstStyle/>
          <a:p>
            <a:pPr algn="l"/>
            <a:r>
              <a:rPr sz="3600" b="1" i="0">
                <a:solidFill>
                  <a:srgbClr val="1F2A44"/>
                </a:solidFill>
                <a:latin typeface="Calibri"/>
              </a:rPr>
              <a:t>Domain impact and business value</a:t>
            </a:r>
          </a:p>
        </p:txBody>
      </p:sp>
      <p:sp>
        <p:nvSpPr>
          <p:cNvPr id="3" name="Subtitle"/>
          <p:cNvSpPr txBox="1"/>
          <p:nvPr/>
        </p:nvSpPr>
        <p:spPr>
          <a:xfrm>
            <a:off x="548640" y="1051560"/>
            <a:ext cx="11094415" cy="365760"/>
          </a:xfrm>
          <a:prstGeom prst="rect">
            <a:avLst/>
          </a:prstGeom>
          <a:noFill/>
        </p:spPr>
        <p:txBody>
          <a:bodyPr wrap="square" anchor="t" lIns="0" rIns="0" tIns="0" bIns="0">
            <a:spAutoFit/>
          </a:bodyPr>
          <a:lstStyle/>
          <a:p>
            <a:pPr algn="l"/>
            <a:r>
              <a:rPr sz="1800" b="0" i="0">
                <a:solidFill>
                  <a:srgbClr val="0E8A84"/>
                </a:solidFill>
                <a:latin typeface="Calibri"/>
              </a:rPr>
              <a:t>Decision support for credit and portfolio risk</a:t>
            </a:r>
          </a:p>
        </p:txBody>
      </p:sp>
      <p:sp>
        <p:nvSpPr>
          <p:cNvPr id="4" name="Rounded Rectangle 3"/>
          <p:cNvSpPr/>
          <p:nvPr/>
        </p:nvSpPr>
        <p:spPr>
          <a:xfrm>
            <a:off x="548640" y="1417320"/>
            <a:ext cx="3611880" cy="1280160"/>
          </a:xfrm>
          <a:prstGeom prst="roundRect">
            <a:avLst>
              <a:gd name="adj" fmla="val 6000"/>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08760"/>
            <a:ext cx="3291840" cy="411480"/>
          </a:xfrm>
          <a:prstGeom prst="rect">
            <a:avLst/>
          </a:prstGeom>
          <a:noFill/>
        </p:spPr>
        <p:txBody>
          <a:bodyPr wrap="square" anchor="t" lIns="0" rIns="0" tIns="0" bIns="0">
            <a:spAutoFit/>
          </a:bodyPr>
          <a:lstStyle/>
          <a:p>
            <a:pPr algn="l"/>
            <a:r>
              <a:rPr sz="1900" b="1" i="0">
                <a:solidFill>
                  <a:srgbClr val="1F2A44"/>
                </a:solidFill>
                <a:latin typeface="Calibri"/>
              </a:rPr>
              <a:t>Credit analysts</a:t>
            </a:r>
          </a:p>
        </p:txBody>
      </p:sp>
      <p:sp>
        <p:nvSpPr>
          <p:cNvPr id="6" name="TextBox 5"/>
          <p:cNvSpPr txBox="1"/>
          <p:nvPr/>
        </p:nvSpPr>
        <p:spPr>
          <a:xfrm>
            <a:off x="731520" y="1892808"/>
            <a:ext cx="3291840" cy="731520"/>
          </a:xfrm>
          <a:prstGeom prst="rect">
            <a:avLst/>
          </a:prstGeom>
          <a:noFill/>
        </p:spPr>
        <p:txBody>
          <a:bodyPr wrap="square" anchor="t" lIns="0" rIns="0" tIns="0" bIns="0">
            <a:spAutoFit/>
          </a:bodyPr>
          <a:lstStyle/>
          <a:p>
            <a:pPr algn="l"/>
            <a:r>
              <a:rPr sz="1800" b="0" i="0">
                <a:solidFill>
                  <a:srgbClr val="1A1A1A"/>
                </a:solidFill>
                <a:latin typeface="Calibri"/>
              </a:rPr>
              <a:t>see which held names need attention, and why</a:t>
            </a:r>
          </a:p>
        </p:txBody>
      </p:sp>
      <p:sp>
        <p:nvSpPr>
          <p:cNvPr id="7" name="Rounded Rectangle 6"/>
          <p:cNvSpPr/>
          <p:nvPr/>
        </p:nvSpPr>
        <p:spPr>
          <a:xfrm>
            <a:off x="4270248" y="1417320"/>
            <a:ext cx="3611880" cy="1280160"/>
          </a:xfrm>
          <a:prstGeom prst="roundRect">
            <a:avLst>
              <a:gd name="adj" fmla="val 6000"/>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53128" y="1508760"/>
            <a:ext cx="3291840" cy="411480"/>
          </a:xfrm>
          <a:prstGeom prst="rect">
            <a:avLst/>
          </a:prstGeom>
          <a:noFill/>
        </p:spPr>
        <p:txBody>
          <a:bodyPr wrap="square" anchor="t" lIns="0" rIns="0" tIns="0" bIns="0">
            <a:spAutoFit/>
          </a:bodyPr>
          <a:lstStyle/>
          <a:p>
            <a:pPr algn="l"/>
            <a:r>
              <a:rPr sz="1900" b="1" i="0">
                <a:solidFill>
                  <a:srgbClr val="1F2A44"/>
                </a:solidFill>
                <a:latin typeface="Calibri"/>
              </a:rPr>
              <a:t>Risk managers</a:t>
            </a:r>
          </a:p>
        </p:txBody>
      </p:sp>
      <p:sp>
        <p:nvSpPr>
          <p:cNvPr id="9" name="TextBox 8"/>
          <p:cNvSpPr txBox="1"/>
          <p:nvPr/>
        </p:nvSpPr>
        <p:spPr>
          <a:xfrm>
            <a:off x="4453128" y="1892808"/>
            <a:ext cx="3291840" cy="731520"/>
          </a:xfrm>
          <a:prstGeom prst="rect">
            <a:avLst/>
          </a:prstGeom>
          <a:noFill/>
        </p:spPr>
        <p:txBody>
          <a:bodyPr wrap="square" anchor="t" lIns="0" rIns="0" tIns="0" bIns="0">
            <a:spAutoFit/>
          </a:bodyPr>
          <a:lstStyle/>
          <a:p>
            <a:pPr algn="l"/>
            <a:r>
              <a:rPr sz="1800" b="0" i="0">
                <a:solidFill>
                  <a:srgbClr val="1A1A1A"/>
                </a:solidFill>
                <a:latin typeface="Calibri"/>
              </a:rPr>
              <a:t>get an audited portfolio view when news breaks</a:t>
            </a:r>
          </a:p>
        </p:txBody>
      </p:sp>
      <p:sp>
        <p:nvSpPr>
          <p:cNvPr id="10" name="Rounded Rectangle 9"/>
          <p:cNvSpPr/>
          <p:nvPr/>
        </p:nvSpPr>
        <p:spPr>
          <a:xfrm>
            <a:off x="7991856" y="1417320"/>
            <a:ext cx="3611880" cy="1280160"/>
          </a:xfrm>
          <a:prstGeom prst="roundRect">
            <a:avLst>
              <a:gd name="adj" fmla="val 6000"/>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74736" y="1508760"/>
            <a:ext cx="3291840" cy="411480"/>
          </a:xfrm>
          <a:prstGeom prst="rect">
            <a:avLst/>
          </a:prstGeom>
          <a:noFill/>
        </p:spPr>
        <p:txBody>
          <a:bodyPr wrap="square" anchor="t" lIns="0" rIns="0" tIns="0" bIns="0">
            <a:spAutoFit/>
          </a:bodyPr>
          <a:lstStyle/>
          <a:p>
            <a:pPr algn="l"/>
            <a:r>
              <a:rPr sz="1900" b="1" i="0">
                <a:solidFill>
                  <a:srgbClr val="1F2A44"/>
                </a:solidFill>
                <a:latin typeface="Calibri"/>
              </a:rPr>
              <a:t>Portfolio managers</a:t>
            </a:r>
          </a:p>
        </p:txBody>
      </p:sp>
      <p:sp>
        <p:nvSpPr>
          <p:cNvPr id="12" name="TextBox 11"/>
          <p:cNvSpPr txBox="1"/>
          <p:nvPr/>
        </p:nvSpPr>
        <p:spPr>
          <a:xfrm>
            <a:off x="8174736" y="1892808"/>
            <a:ext cx="3291840" cy="731520"/>
          </a:xfrm>
          <a:prstGeom prst="rect">
            <a:avLst/>
          </a:prstGeom>
          <a:noFill/>
        </p:spPr>
        <p:txBody>
          <a:bodyPr wrap="square" anchor="t" lIns="0" rIns="0" tIns="0" bIns="0">
            <a:spAutoFit/>
          </a:bodyPr>
          <a:lstStyle/>
          <a:p>
            <a:pPr algn="l"/>
            <a:r>
              <a:rPr sz="1800" b="0" i="0">
                <a:solidFill>
                  <a:srgbClr val="1A1A1A"/>
                </a:solidFill>
                <a:latin typeface="Calibri"/>
              </a:rPr>
              <a:t>see linked exposure and test their own shocks</a:t>
            </a:r>
          </a:p>
        </p:txBody>
      </p:sp>
      <p:pic>
        <p:nvPicPr>
          <p:cNvPr id="13" name="Picture 12" descr="watchlist.png"/>
          <p:cNvPicPr>
            <a:picLocks noChangeAspect="1"/>
          </p:cNvPicPr>
          <p:nvPr/>
        </p:nvPicPr>
        <p:blipFill>
          <a:blip r:embed="rId2"/>
          <a:stretch>
            <a:fillRect/>
          </a:stretch>
        </p:blipFill>
        <p:spPr>
          <a:xfrm>
            <a:off x="548640" y="2880360"/>
            <a:ext cx="3755136" cy="2011680"/>
          </a:xfrm>
          <a:prstGeom prst="rect">
            <a:avLst/>
          </a:prstGeom>
          <a:ln w="12700">
            <a:solidFill>
              <a:srgbClr val="C9D3DB"/>
            </a:solidFill>
          </a:ln>
        </p:spPr>
      </p:pic>
      <p:pic>
        <p:nvPicPr>
          <p:cNvPr id="14" name="Picture 13" descr="credit_brief.png"/>
          <p:cNvPicPr>
            <a:picLocks noChangeAspect="1"/>
          </p:cNvPicPr>
          <p:nvPr/>
        </p:nvPicPr>
        <p:blipFill>
          <a:blip r:embed="rId3"/>
          <a:stretch>
            <a:fillRect/>
          </a:stretch>
        </p:blipFill>
        <p:spPr>
          <a:xfrm>
            <a:off x="4440936" y="2880360"/>
            <a:ext cx="3836561" cy="2011680"/>
          </a:xfrm>
          <a:prstGeom prst="rect">
            <a:avLst/>
          </a:prstGeom>
          <a:ln w="12700">
            <a:solidFill>
              <a:srgbClr val="C9D3DB"/>
            </a:solidFill>
          </a:ln>
        </p:spPr>
      </p:pic>
      <p:pic>
        <p:nvPicPr>
          <p:cNvPr id="15" name="Picture 14" descr="propagation_graph.png"/>
          <p:cNvPicPr>
            <a:picLocks noChangeAspect="1"/>
          </p:cNvPicPr>
          <p:nvPr/>
        </p:nvPicPr>
        <p:blipFill>
          <a:blip r:embed="rId4"/>
          <a:stretch>
            <a:fillRect/>
          </a:stretch>
        </p:blipFill>
        <p:spPr>
          <a:xfrm>
            <a:off x="8414657" y="2880360"/>
            <a:ext cx="2771192" cy="2011680"/>
          </a:xfrm>
          <a:prstGeom prst="rect">
            <a:avLst/>
          </a:prstGeom>
          <a:ln w="12700">
            <a:solidFill>
              <a:srgbClr val="C9D3DB"/>
            </a:solidFill>
          </a:ln>
        </p:spPr>
      </p:pic>
      <p:sp>
        <p:nvSpPr>
          <p:cNvPr id="16" name="TextBox 15"/>
          <p:cNvSpPr txBox="1"/>
          <p:nvPr/>
        </p:nvSpPr>
        <p:spPr>
          <a:xfrm>
            <a:off x="548640" y="4928616"/>
            <a:ext cx="3755136" cy="320040"/>
          </a:xfrm>
          <a:prstGeom prst="rect">
            <a:avLst/>
          </a:prstGeom>
          <a:noFill/>
        </p:spPr>
        <p:txBody>
          <a:bodyPr wrap="square" anchor="t" lIns="0" rIns="0" tIns="0" bIns="0">
            <a:spAutoFit/>
          </a:bodyPr>
          <a:lstStyle/>
          <a:p>
            <a:pPr algn="l"/>
            <a:r>
              <a:rPr sz="1800" b="0" i="1">
                <a:solidFill>
                  <a:srgbClr val="555B66"/>
                </a:solidFill>
                <a:latin typeface="Calibri"/>
              </a:rPr>
              <a:t>Watchlist on real news</a:t>
            </a:r>
          </a:p>
        </p:txBody>
      </p:sp>
      <p:sp>
        <p:nvSpPr>
          <p:cNvPr id="17" name="TextBox 16"/>
          <p:cNvSpPr txBox="1"/>
          <p:nvPr/>
        </p:nvSpPr>
        <p:spPr>
          <a:xfrm>
            <a:off x="4440936" y="4928616"/>
            <a:ext cx="3836561" cy="320040"/>
          </a:xfrm>
          <a:prstGeom prst="rect">
            <a:avLst/>
          </a:prstGeom>
          <a:noFill/>
        </p:spPr>
        <p:txBody>
          <a:bodyPr wrap="square" anchor="t" lIns="0" rIns="0" tIns="0" bIns="0">
            <a:spAutoFit/>
          </a:bodyPr>
          <a:lstStyle/>
          <a:p>
            <a:pPr algn="l"/>
            <a:r>
              <a:rPr sz="1800" b="0" i="1">
                <a:solidFill>
                  <a:srgbClr val="555B66"/>
                </a:solidFill>
                <a:latin typeface="Calibri"/>
              </a:rPr>
              <a:t>Credit brief (PDF)</a:t>
            </a:r>
          </a:p>
        </p:txBody>
      </p:sp>
      <p:sp>
        <p:nvSpPr>
          <p:cNvPr id="18" name="TextBox 17"/>
          <p:cNvSpPr txBox="1"/>
          <p:nvPr/>
        </p:nvSpPr>
        <p:spPr>
          <a:xfrm>
            <a:off x="8414657" y="4928616"/>
            <a:ext cx="2771192" cy="320040"/>
          </a:xfrm>
          <a:prstGeom prst="rect">
            <a:avLst/>
          </a:prstGeom>
          <a:noFill/>
        </p:spPr>
        <p:txBody>
          <a:bodyPr wrap="square" anchor="t" lIns="0" rIns="0" tIns="0" bIns="0">
            <a:spAutoFit/>
          </a:bodyPr>
          <a:lstStyle/>
          <a:p>
            <a:pPr algn="l"/>
            <a:r>
              <a:rPr sz="1800" b="0" i="1">
                <a:solidFill>
                  <a:srgbClr val="555B66"/>
                </a:solidFill>
                <a:latin typeface="Calibri"/>
              </a:rPr>
              <a:t>Propagation graph</a:t>
            </a:r>
          </a:p>
        </p:txBody>
      </p:sp>
      <p:sp>
        <p:nvSpPr>
          <p:cNvPr id="19" name="Rounded Rectangle 18"/>
          <p:cNvSpPr/>
          <p:nvPr/>
        </p:nvSpPr>
        <p:spPr>
          <a:xfrm>
            <a:off x="548640" y="5440680"/>
            <a:ext cx="11094415" cy="777240"/>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440680"/>
            <a:ext cx="10362895" cy="777240"/>
          </a:xfrm>
          <a:prstGeom prst="rect">
            <a:avLst/>
          </a:prstGeom>
          <a:noFill/>
        </p:spPr>
        <p:txBody>
          <a:bodyPr wrap="square" anchor="ctr" lIns="0" rIns="0" tIns="0" bIns="0">
            <a:spAutoFit/>
          </a:bodyPr>
          <a:lstStyle/>
          <a:p>
            <a:pPr algn="l"/>
            <a:r>
              <a:rPr sz="2200" b="1" i="0">
                <a:solidFill>
                  <a:srgbClr val="FFFFFF"/>
                </a:solidFill>
                <a:latin typeface="Calibri"/>
              </a:rPr>
              <a:t>No ROI claims: earlier attention, triage with the reason shown, audit trail to the headline</a:t>
            </a:r>
          </a:p>
        </p:txBody>
      </p:sp>
      <p:sp>
        <p:nvSpPr>
          <p:cNvPr id="21" name="Footer"/>
          <p:cNvSpPr txBox="1"/>
          <p:nvPr/>
        </p:nvSpPr>
        <p:spPr>
          <a:xfrm>
            <a:off x="548640" y="6446520"/>
            <a:ext cx="8686800" cy="274320"/>
          </a:xfrm>
          <a:prstGeom prst="rect">
            <a:avLst/>
          </a:prstGeom>
          <a:noFill/>
        </p:spPr>
        <p:txBody>
          <a:bodyPr wrap="square" anchor="t" lIns="0" rIns="0" tIns="0" bIns="0">
            <a:spAutoFit/>
          </a:bodyPr>
          <a:lstStyle/>
          <a:p>
            <a:pPr algn="l"/>
            <a:r>
              <a:rPr sz="1800" b="0" i="0">
                <a:solidFill>
                  <a:srgbClr val="555B66"/>
                </a:solidFill>
                <a:latin typeface="Calibri"/>
              </a:rPr>
              <a:t>Risk Signal Engine · decision support, not investment advice</a:t>
            </a:r>
          </a:p>
        </p:txBody>
      </p:sp>
      <p:sp>
        <p:nvSpPr>
          <p:cNvPr id="22" name="SlideNo"/>
          <p:cNvSpPr txBox="1"/>
          <p:nvPr/>
        </p:nvSpPr>
        <p:spPr>
          <a:xfrm>
            <a:off x="10911535" y="6446520"/>
            <a:ext cx="731520" cy="274320"/>
          </a:xfrm>
          <a:prstGeom prst="rect">
            <a:avLst/>
          </a:prstGeom>
          <a:noFill/>
        </p:spPr>
        <p:txBody>
          <a:bodyPr wrap="square" anchor="t" lIns="0" rIns="0" tIns="0" bIns="0">
            <a:spAutoFit/>
          </a:bodyPr>
          <a:lstStyle/>
          <a:p>
            <a:pPr algn="r"/>
            <a:r>
              <a:rPr sz="1800" b="0" i="0">
                <a:solidFill>
                  <a:srgbClr val="555B66"/>
                </a:solidFill>
                <a:latin typeface="Calibri"/>
              </a:rPr>
              <a:t>6 /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411480"/>
            <a:ext cx="11094415" cy="685800"/>
          </a:xfrm>
          <a:prstGeom prst="rect">
            <a:avLst/>
          </a:prstGeom>
          <a:noFill/>
        </p:spPr>
        <p:txBody>
          <a:bodyPr wrap="square" anchor="t" lIns="0" rIns="0" tIns="0" bIns="0">
            <a:spAutoFit/>
          </a:bodyPr>
          <a:lstStyle/>
          <a:p>
            <a:pPr algn="l"/>
            <a:r>
              <a:rPr sz="3600" b="1" i="0">
                <a:solidFill>
                  <a:srgbClr val="1F2A44"/>
                </a:solidFill>
                <a:latin typeface="Calibri"/>
              </a:rPr>
              <a:t>Limitations and future work</a:t>
            </a:r>
          </a:p>
        </p:txBody>
      </p:sp>
      <p:sp>
        <p:nvSpPr>
          <p:cNvPr id="3" name="Rounded Rectangle 2"/>
          <p:cNvSpPr/>
          <p:nvPr/>
        </p:nvSpPr>
        <p:spPr>
          <a:xfrm>
            <a:off x="548640" y="1188720"/>
            <a:ext cx="3566160" cy="3429000"/>
          </a:xfrm>
          <a:prstGeom prst="roundRect">
            <a:avLst>
              <a:gd name="adj" fmla="val 6000"/>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3108960" cy="457200"/>
          </a:xfrm>
          <a:prstGeom prst="rect">
            <a:avLst/>
          </a:prstGeom>
          <a:noFill/>
        </p:spPr>
        <p:txBody>
          <a:bodyPr wrap="square" anchor="t" lIns="0" rIns="0" tIns="0" bIns="0">
            <a:spAutoFit/>
          </a:bodyPr>
          <a:lstStyle/>
          <a:p>
            <a:pPr algn="l"/>
            <a:r>
              <a:rPr sz="2200" b="1" i="0">
                <a:solidFill>
                  <a:srgbClr val="1F2A44"/>
                </a:solidFill>
                <a:latin typeface="Calibri"/>
              </a:rPr>
              <a:t>Limitations</a:t>
            </a:r>
          </a:p>
        </p:txBody>
      </p:sp>
      <p:sp>
        <p:nvSpPr>
          <p:cNvPr id="5" name="TextBox 4"/>
          <p:cNvSpPr txBox="1"/>
          <p:nvPr/>
        </p:nvSpPr>
        <p:spPr>
          <a:xfrm>
            <a:off x="822960" y="1965960"/>
            <a:ext cx="3063240" cy="2651760"/>
          </a:xfrm>
          <a:prstGeom prst="rect">
            <a:avLst/>
          </a:prstGeom>
          <a:noFill/>
        </p:spPr>
        <p:txBody>
          <a:bodyPr wrap="square" lIns="0" rIns="0" tIns="0" bIns="0">
            <a:spAutoFit/>
          </a:bodyPr>
          <a:lstStyle/>
          <a:p>
            <a:pPr marL="274320" indent="-274320">
              <a:spcAft>
                <a:spcPts val="1400"/>
              </a:spcAft>
              <a:buClr>
                <a:srgbClr val="0E8A84"/>
              </a:buClr>
              <a:buFont typeface="Arial"/>
              <a:buChar char="•"/>
            </a:pPr>
            <a:r>
              <a:rPr sz="1800" b="0" i="0">
                <a:solidFill>
                  <a:srgbClr val="1A1A1A"/>
                </a:solidFill>
                <a:latin typeface="Calibri"/>
              </a:rPr>
              <a:t>Uncalibrated impact weights</a:t>
            </a:r>
          </a:p>
          <a:p>
            <a:pPr marL="274320" indent="-274320">
              <a:spcAft>
                <a:spcPts val="1400"/>
              </a:spcAft>
              <a:buClr>
                <a:srgbClr val="0E8A84"/>
              </a:buClr>
              <a:buFont typeface="Arial"/>
              <a:buChar char="•"/>
            </a:pPr>
            <a:r>
              <a:rPr sz="1800" b="0" i="0">
                <a:solidFill>
                  <a:srgbClr val="1A1A1A"/>
                </a:solidFill>
                <a:latin typeface="Calibri"/>
              </a:rPr>
              <a:t>Rules still misfire at times</a:t>
            </a:r>
          </a:p>
          <a:p>
            <a:pPr marL="274320" indent="-274320">
              <a:spcAft>
                <a:spcPts val="1400"/>
              </a:spcAft>
              <a:buClr>
                <a:srgbClr val="0E8A84"/>
              </a:buClr>
              <a:buFont typeface="Arial"/>
              <a:buChar char="•"/>
            </a:pPr>
            <a:r>
              <a:rPr sz="1800" b="0" i="0">
                <a:solidFill>
                  <a:srgbClr val="1A1A1A"/>
                </a:solidFill>
                <a:latin typeface="Calibri"/>
              </a:rPr>
              <a:t>Headline-only news</a:t>
            </a:r>
          </a:p>
          <a:p>
            <a:pPr marL="274320" indent="-274320">
              <a:spcAft>
                <a:spcPts val="1400"/>
              </a:spcAft>
              <a:buClr>
                <a:srgbClr val="0E8A84"/>
              </a:buClr>
              <a:buFont typeface="Arial"/>
              <a:buChar char="•"/>
            </a:pPr>
            <a:r>
              <a:rPr sz="1800" b="0" i="0">
                <a:solidFill>
                  <a:srgbClr val="1A1A1A"/>
                </a:solidFill>
                <a:latin typeface="Calibri"/>
              </a:rPr>
              <a:t>Small AI-labelled eval set</a:t>
            </a:r>
          </a:p>
          <a:p>
            <a:pPr marL="274320" indent="-274320">
              <a:spcAft>
                <a:spcPts val="1400"/>
              </a:spcAft>
              <a:buClr>
                <a:srgbClr val="0E8A84"/>
              </a:buClr>
              <a:buFont typeface="Arial"/>
              <a:buChar char="•"/>
            </a:pPr>
            <a:r>
              <a:rPr sz="1800" b="0" i="0">
                <a:solidFill>
                  <a:srgbClr val="1A1A1A"/>
                </a:solidFill>
                <a:latin typeface="Calibri"/>
              </a:rPr>
              <a:t>Illustrative stress model</a:t>
            </a:r>
          </a:p>
        </p:txBody>
      </p:sp>
      <p:sp>
        <p:nvSpPr>
          <p:cNvPr id="6" name="Rounded Rectangle 5"/>
          <p:cNvSpPr/>
          <p:nvPr/>
        </p:nvSpPr>
        <p:spPr>
          <a:xfrm>
            <a:off x="4270248" y="1188720"/>
            <a:ext cx="3566160" cy="3429000"/>
          </a:xfrm>
          <a:prstGeom prst="roundRect">
            <a:avLst>
              <a:gd name="adj" fmla="val 6000"/>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44568" y="1371600"/>
            <a:ext cx="3108960" cy="457200"/>
          </a:xfrm>
          <a:prstGeom prst="rect">
            <a:avLst/>
          </a:prstGeom>
          <a:noFill/>
        </p:spPr>
        <p:txBody>
          <a:bodyPr wrap="square" anchor="t" lIns="0" rIns="0" tIns="0" bIns="0">
            <a:spAutoFit/>
          </a:bodyPr>
          <a:lstStyle/>
          <a:p>
            <a:pPr algn="l"/>
            <a:r>
              <a:rPr sz="2200" b="1" i="0">
                <a:solidFill>
                  <a:srgbClr val="0E8A84"/>
                </a:solidFill>
                <a:latin typeface="Calibri"/>
              </a:rPr>
              <a:t>Future work</a:t>
            </a:r>
          </a:p>
        </p:txBody>
      </p:sp>
      <p:sp>
        <p:nvSpPr>
          <p:cNvPr id="8" name="TextBox 7"/>
          <p:cNvSpPr txBox="1"/>
          <p:nvPr/>
        </p:nvSpPr>
        <p:spPr>
          <a:xfrm>
            <a:off x="4544568" y="1965960"/>
            <a:ext cx="3063240" cy="2651760"/>
          </a:xfrm>
          <a:prstGeom prst="rect">
            <a:avLst/>
          </a:prstGeom>
          <a:noFill/>
        </p:spPr>
        <p:txBody>
          <a:bodyPr wrap="square" lIns="0" rIns="0" tIns="0" bIns="0">
            <a:spAutoFit/>
          </a:bodyPr>
          <a:lstStyle/>
          <a:p>
            <a:pPr marL="274320" indent="-274320">
              <a:spcAft>
                <a:spcPts val="1400"/>
              </a:spcAft>
              <a:buClr>
                <a:srgbClr val="0E8A84"/>
              </a:buClr>
              <a:buFont typeface="Arial"/>
              <a:buChar char="•"/>
            </a:pPr>
            <a:r>
              <a:rPr sz="1800" b="0" i="0">
                <a:solidFill>
                  <a:srgbClr val="1A1A1A"/>
                </a:solidFill>
                <a:latin typeface="Calibri"/>
              </a:rPr>
              <a:t>Calibrate on market moves</a:t>
            </a:r>
          </a:p>
          <a:p>
            <a:pPr marL="274320" indent="-274320">
              <a:spcAft>
                <a:spcPts val="1400"/>
              </a:spcAft>
              <a:buClr>
                <a:srgbClr val="0E8A84"/>
              </a:buClr>
              <a:buFont typeface="Arial"/>
              <a:buChar char="•"/>
            </a:pPr>
            <a:r>
              <a:rPr sz="1800" b="0" i="0">
                <a:solidFill>
                  <a:srgbClr val="1A1A1A"/>
                </a:solidFill>
                <a:latin typeface="Calibri"/>
              </a:rPr>
              <a:t>Licensed full-text news</a:t>
            </a:r>
          </a:p>
          <a:p>
            <a:pPr marL="274320" indent="-274320">
              <a:spcAft>
                <a:spcPts val="1400"/>
              </a:spcAft>
              <a:buClr>
                <a:srgbClr val="0E8A84"/>
              </a:buClr>
              <a:buFont typeface="Arial"/>
              <a:buChar char="•"/>
            </a:pPr>
            <a:r>
              <a:rPr sz="1800" b="0" i="0">
                <a:solidFill>
                  <a:srgbClr val="1A1A1A"/>
                </a:solidFill>
                <a:latin typeface="Calibri"/>
              </a:rPr>
              <a:t>Fine-tuned models (ready)</a:t>
            </a:r>
          </a:p>
          <a:p>
            <a:pPr marL="274320" indent="-274320">
              <a:spcAft>
                <a:spcPts val="1400"/>
              </a:spcAft>
              <a:buClr>
                <a:srgbClr val="0E8A84"/>
              </a:buClr>
              <a:buFont typeface="Arial"/>
              <a:buChar char="•"/>
            </a:pPr>
            <a:r>
              <a:rPr sz="1800" b="0" i="0">
                <a:solidFill>
                  <a:srgbClr val="1A1A1A"/>
                </a:solidFill>
                <a:latin typeface="Calibri"/>
              </a:rPr>
              <a:t>Streaming (Kafka)</a:t>
            </a:r>
          </a:p>
          <a:p>
            <a:pPr marL="274320" indent="-274320">
              <a:spcAft>
                <a:spcPts val="1400"/>
              </a:spcAft>
              <a:buClr>
                <a:srgbClr val="0E8A84"/>
              </a:buClr>
              <a:buFont typeface="Arial"/>
              <a:buChar char="•"/>
            </a:pPr>
            <a:r>
              <a:rPr sz="1800" b="0" i="0">
                <a:solidFill>
                  <a:srgbClr val="1A1A1A"/>
                </a:solidFill>
                <a:latin typeface="Calibri"/>
              </a:rPr>
              <a:t>Backtesting</a:t>
            </a:r>
          </a:p>
        </p:txBody>
      </p:sp>
      <p:sp>
        <p:nvSpPr>
          <p:cNvPr id="9" name="Rounded Rectangle 8"/>
          <p:cNvSpPr/>
          <p:nvPr/>
        </p:nvSpPr>
        <p:spPr>
          <a:xfrm>
            <a:off x="7991856" y="1188720"/>
            <a:ext cx="3566160" cy="3429000"/>
          </a:xfrm>
          <a:prstGeom prst="roundRect">
            <a:avLst>
              <a:gd name="adj" fmla="val 6000"/>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66176" y="1371600"/>
            <a:ext cx="3108960" cy="457200"/>
          </a:xfrm>
          <a:prstGeom prst="rect">
            <a:avLst/>
          </a:prstGeom>
          <a:noFill/>
        </p:spPr>
        <p:txBody>
          <a:bodyPr wrap="square" anchor="t" lIns="0" rIns="0" tIns="0" bIns="0">
            <a:spAutoFit/>
          </a:bodyPr>
          <a:lstStyle/>
          <a:p>
            <a:pPr algn="l"/>
            <a:r>
              <a:rPr sz="2200" b="1" i="0">
                <a:solidFill>
                  <a:srgbClr val="0E8A84"/>
                </a:solidFill>
                <a:latin typeface="Calibri"/>
              </a:rPr>
              <a:t>What already works</a:t>
            </a:r>
          </a:p>
        </p:txBody>
      </p:sp>
      <p:sp>
        <p:nvSpPr>
          <p:cNvPr id="11" name="TextBox 10"/>
          <p:cNvSpPr txBox="1"/>
          <p:nvPr/>
        </p:nvSpPr>
        <p:spPr>
          <a:xfrm>
            <a:off x="8266176" y="1965960"/>
            <a:ext cx="3063240" cy="2651760"/>
          </a:xfrm>
          <a:prstGeom prst="rect">
            <a:avLst/>
          </a:prstGeom>
          <a:noFill/>
        </p:spPr>
        <p:txBody>
          <a:bodyPr wrap="square" lIns="0" rIns="0" tIns="0" bIns="0">
            <a:spAutoFit/>
          </a:bodyPr>
          <a:lstStyle/>
          <a:p>
            <a:pPr marL="274320" indent="-274320">
              <a:spcAft>
                <a:spcPts val="1400"/>
              </a:spcAft>
              <a:buClr>
                <a:srgbClr val="0E8A84"/>
              </a:buClr>
              <a:buFont typeface="Arial"/>
              <a:buChar char="•"/>
            </a:pPr>
            <a:r>
              <a:rPr sz="1800" b="0" i="0">
                <a:solidFill>
                  <a:srgbClr val="1A1A1A"/>
                </a:solidFill>
                <a:latin typeface="Calibri"/>
              </a:rPr>
              <a:t>Provenance on every record</a:t>
            </a:r>
          </a:p>
          <a:p>
            <a:pPr marL="274320" indent="-274320">
              <a:spcAft>
                <a:spcPts val="1400"/>
              </a:spcAft>
              <a:buClr>
                <a:srgbClr val="0E8A84"/>
              </a:buClr>
              <a:buFont typeface="Arial"/>
              <a:buChar char="•"/>
            </a:pPr>
            <a:r>
              <a:rPr sz="1800" b="0" i="0">
                <a:solidFill>
                  <a:srgbClr val="1A1A1A"/>
                </a:solidFill>
                <a:latin typeface="Calibri"/>
              </a:rPr>
              <a:t>One pipeline for all input</a:t>
            </a:r>
          </a:p>
          <a:p>
            <a:pPr marL="274320" indent="-274320">
              <a:spcAft>
                <a:spcPts val="1400"/>
              </a:spcAft>
              <a:buClr>
                <a:srgbClr val="0E8A84"/>
              </a:buClr>
              <a:buFont typeface="Arial"/>
              <a:buChar char="•"/>
            </a:pPr>
            <a:r>
              <a:rPr sz="1800" b="0" i="0">
                <a:solidFill>
                  <a:srgbClr val="1A1A1A"/>
                </a:solidFill>
                <a:latin typeface="Calibri"/>
              </a:rPr>
              <a:t>Real-data time machine</a:t>
            </a:r>
          </a:p>
          <a:p>
            <a:pPr marL="274320" indent="-274320">
              <a:spcAft>
                <a:spcPts val="1400"/>
              </a:spcAft>
              <a:buClr>
                <a:srgbClr val="0E8A84"/>
              </a:buClr>
              <a:buFont typeface="Arial"/>
              <a:buChar char="•"/>
            </a:pPr>
            <a:r>
              <a:rPr sz="1800" b="0" i="0">
                <a:solidFill>
                  <a:srgbClr val="1A1A1A"/>
                </a:solidFill>
                <a:latin typeface="Calibri"/>
              </a:rPr>
              <a:t>Trigger audit trail</a:t>
            </a:r>
          </a:p>
          <a:p>
            <a:pPr marL="274320" indent="-274320">
              <a:spcAft>
                <a:spcPts val="1400"/>
              </a:spcAft>
              <a:buClr>
                <a:srgbClr val="0E8A84"/>
              </a:buClr>
              <a:buFont typeface="Arial"/>
              <a:buChar char="•"/>
            </a:pPr>
            <a:r>
              <a:rPr sz="1800" b="0" i="0">
                <a:solidFill>
                  <a:srgbClr val="1A1A1A"/>
                </a:solidFill>
                <a:latin typeface="Calibri"/>
              </a:rPr>
              <a:t>Offline laptop demo</a:t>
            </a:r>
          </a:p>
        </p:txBody>
      </p:sp>
      <p:sp>
        <p:nvSpPr>
          <p:cNvPr id="12" name="Rounded Rectangle 11"/>
          <p:cNvSpPr/>
          <p:nvPr/>
        </p:nvSpPr>
        <p:spPr>
          <a:xfrm>
            <a:off x="548640" y="4892040"/>
            <a:ext cx="11094415" cy="1097280"/>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892040"/>
            <a:ext cx="10362895" cy="1097280"/>
          </a:xfrm>
          <a:prstGeom prst="rect">
            <a:avLst/>
          </a:prstGeom>
          <a:noFill/>
        </p:spPr>
        <p:txBody>
          <a:bodyPr wrap="square" anchor="ctr" lIns="0" rIns="0" tIns="0" bIns="0">
            <a:spAutoFit/>
          </a:bodyPr>
          <a:lstStyle/>
          <a:p>
            <a:pPr algn="l"/>
            <a:r>
              <a:rPr sz="2400" b="1" i="0">
                <a:solidFill>
                  <a:srgbClr val="FFFFFF"/>
                </a:solidFill>
                <a:latin typeface="Calibri"/>
              </a:rPr>
              <a:t>An honest, explainable bridge from text to portfolio risk, offline on a laptop</a:t>
            </a:r>
          </a:p>
        </p:txBody>
      </p:sp>
      <p:sp>
        <p:nvSpPr>
          <p:cNvPr id="14" name="Footer"/>
          <p:cNvSpPr txBox="1"/>
          <p:nvPr/>
        </p:nvSpPr>
        <p:spPr>
          <a:xfrm>
            <a:off x="548640" y="6446520"/>
            <a:ext cx="8686800" cy="274320"/>
          </a:xfrm>
          <a:prstGeom prst="rect">
            <a:avLst/>
          </a:prstGeom>
          <a:noFill/>
        </p:spPr>
        <p:txBody>
          <a:bodyPr wrap="square" anchor="t" lIns="0" rIns="0" tIns="0" bIns="0">
            <a:spAutoFit/>
          </a:bodyPr>
          <a:lstStyle/>
          <a:p>
            <a:pPr algn="l"/>
            <a:r>
              <a:rPr sz="1800" b="0" i="0">
                <a:solidFill>
                  <a:srgbClr val="555B66"/>
                </a:solidFill>
                <a:latin typeface="Calibri"/>
              </a:rPr>
              <a:t>Risk Signal Engine · decision support, not investment advice</a:t>
            </a:r>
          </a:p>
        </p:txBody>
      </p:sp>
      <p:sp>
        <p:nvSpPr>
          <p:cNvPr id="15" name="SlideNo"/>
          <p:cNvSpPr txBox="1"/>
          <p:nvPr/>
        </p:nvSpPr>
        <p:spPr>
          <a:xfrm>
            <a:off x="10911535" y="6446520"/>
            <a:ext cx="731520" cy="274320"/>
          </a:xfrm>
          <a:prstGeom prst="rect">
            <a:avLst/>
          </a:prstGeom>
          <a:noFill/>
        </p:spPr>
        <p:txBody>
          <a:bodyPr wrap="square" anchor="t" lIns="0" rIns="0" tIns="0" bIns="0">
            <a:spAutoFit/>
          </a:bodyPr>
          <a:lstStyle/>
          <a:p>
            <a:pPr algn="r"/>
            <a:r>
              <a:rPr sz="1800" b="0" i="0">
                <a:solidFill>
                  <a:srgbClr val="555B66"/>
                </a:solidFill>
                <a:latin typeface="Calibri"/>
              </a:rPr>
              <a:t>7 /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